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3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16x9"/>
  <p:notesSz cx="6858000" cy="9144000"/>
  <p:defaultTextStyle>
    <a:defPPr>
      <a:defRPr lang="ja-JP"/>
    </a:defPPr>
    <a:lvl1pPr marL="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ja-JP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  <Relationship Id="rId30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ja-JP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ja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ja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ja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ja-JP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μAI-Studioは、μT-Kernel 3.0向けのエッジAI開発環境です。TRONプログラミングコンテスト2026の開発環境・開発ツール部門に向けて、後藤俊樹が紹介します。作る、動かす、測る、直すを、すべてコマンドで回せることが特徴です。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μAI-Studioは、μT-Kernel 3.0でNPUを使うAIアプリを開発するための開発環境で、対象はSTM32N6570-DKです。モデル変換からメモリ配置、ビルド、書き込み、実行時の解析までをコマンドラインで一貫して扱います。TRON×AIを、μT-Kernel上で動くAIと、AIが開発に参加できる開発環境という2つの面で実現します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μAI-Studioは、CMakeとMakeによるCLIを開発基盤とし、メモリ配置と実行記録を扱うホストツール、μT-Kernel上のAI実行基盤となるミドルウェアで構成されます。さらに、タスク切替と割込みを記録するフックAPIの実装と、評価用サンプルのai-appを含みます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ベンダーIDE中心の開発では操作がIDEのGUIに閉じますが、μAI-StudioではMakeのコマンドで操作し、エディタも自由に選べます。AIエージェントにビルドから実機確認まで任せられ、メモリ配置の検査、NPUとCPUの並列実行、性能の可視化も環境側が受け持ちます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必要なのは、ネイティブのLinuxとSTM32N6570-DK、OSのパッケージ、そして別途入手するSTの無償ツールです。ホストごとのパスはlocal.mkに書くだけで、利用している既存ソフトウェアの一覧はTHIRD_PARTY_NOTICES.mdにまとめています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setupからcpu-task-monitorまで、6つのMakeターゲットで開発の流れがそろいます。UARTを監視しながらモデルを書き込み、RAMで実行し、2つのモニターで記録を可視化できます。作る、動かす、測る、直すを、すべてコマンドで回せます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1つ目の課題は、マイコン開発がベンダーIDEとGUI操作を前提にしていることです。ビルドや書き込み、ログ確認がIDEの中に閉じているため自動化しにくく、AIエージェントやCIから同じ手順を再現できず、使い慣れたツールも選べません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μT-Kernel 3.0本体からアプリまでをCMakeで一括ビルドし、compile_commands.jsonでLSP対応エディタの補完も効くようにしました。すべての操作がコマンドなので、AGENTS.mdに対応したエージェントが、UARTでの起動確認まで自分で進められます。実機に書き込み、起動を確認するまでを、作業の完了条件にしています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カーネルを書き換えずに自分のアプリを追加でき、setup、ram-run、monitorはそのまま使えます。main.cppにusermainを書き、CMakeLists.txt、Makefile、IOCファイルを用意すれば動かせます。ドライバやミドルウェア、AI用のターゲットは現在ai-app向けなので、ほかのアプリではルートのCMakeLists.txtとメモリ配置の設定を追加します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2つ目の課題はメモリ配置です。モデルの重みやNPUコマンド、作業領域、フレームなど、置き場所を決める対象が多く、モデルを増やすたびに手で調整し直す必要があります。設定がずれてもビルドは通るため、実機で原因の分かりにくい不具合になります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auto_static_memory_layoutは、ボード定義、アプリのバッファ要求、STEdgeAIの生成物を読み込み、配置の正本であるmemory_layout.jsonを作ります。そこからC++ヘッダーとリンカスクリプトを生成してCMakeのビルドに直接つなぎ、領域の重なりや容量不足はビルド時にエラーにします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3つ目の課題は、NPU推論とRTOSの組み合わせ方です。NPUの完了を待つ間もCPUを遊ばせたくなく、推論が遅れても映像表示は止めたくなく、複数のモデルも同時に扱いたいという要求があります。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カメラの映像はPipe1で推論を待たずにLCDに表示し、Pipe2で縮小した画像を前処理、NPU、後処理のタスクへ流れ作業で渡します。パイプラインランタイム、バッファの所有権管理、DCMIPPによる画像縮小、ドライバの排他制御が、このミドルウェアを支えています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4つ目の課題は、CPUとNPUと複数のタスクが並行して動くと、どこで時間を使っているか見えないことです。μT-Kernel 3.0にはtd_hok_dspとtd_hok_intというフックAPIが宣言されていますが、実装がなく、BSP2ではアプリから使えませんでした。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フックAPIを実装し、Cortex-M55のディスパッチ処理と割込み処理から呼ぶようにしました。標準APIなので、ほかのアプリもCMakeオプションで使えます。記録はPSRAM上のリングバッファにため、ホストがSWDで読み出すので、UARTの帯域を使いません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CPU task monitorは、フックの記録から作成した可視化です。上段がタスク別CPU使用率、中段が各タスクのループのガント図、下段がループ時間の平均と最大です。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AI model monitorは、AIランタイムに埋め込んだ計測処理から作成した可視化です。上段はモデルごとのCPU処理とNPU処理のタイムライン、下段は各段階の平均時間を示します。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3モデル同時推論の評価用サンプルを実機で記録しました。NPUがpersonやsegmentationを推論している間に、faceの前処理や後処理がCPUで進んでいることを、タイムラインで確認できました。また、カメラ表示タスクがCPU時間の約77%を使っていることも分かります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モデルごとの平均時間を比べると、personは396.4ミリ秒、segmentationは331.4ミリ秒と、NPU処理が突出して長く、ここがボトルネックだと一目で分かります。faceのNPU処理は平均62.8ミリ秒で、記録の分解能は10ミリ秒です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評価用サンプルのai-appは、カメラ映像をLCDに表示しながら、人物検出、顔検出、セグメンテーションの3つのモデルをNPUで推論します。メモリ配置の生成、ミドルウェア、モニターといった開発環境の各機能をすべて使っています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μT-Kernel 3.0本体からアプリまでを1つのCMakeプロジェクトでビルドし、推論の各段階をμT-Kernelのタスクとして実行します。宣言のみだったフックAPIを実装して解析ツールの土台にし、カメラやNPUなどのドライバもμT-Kernel上で動くように整えました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今後は、AIモデルの作成からの支援と、モニターの記録を使ったAIエージェントによる性能チューニングを進めます。あわせて、対応ボードを増やし、フックAPIの実装をTRONフォーラムの上流リポジトリへ提案します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ja-JP" dirty="0"/>
              <a:t>IDEへの依存、手作業のメモリ配置、NPUとRTOSの組み合わせ、見えない実行状況という4つの課題を、CLI、配置の生成と検査、AIミドルウェア、フックAPIによる可視化で解決しました。自作部分はMITライセンスでGitHubに公開しています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uai-studi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ja-JP" smtClean="0"/>
              <a:t>1/27/13</a:t>
            </a:fld>
            <a:endParaRPr lang="ja-JP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ja-JP" smtClean="0"/>
              <a:t>‹#›</a:t>
            </a:fld>
            <a:endParaRPr lang="ja-JP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uai-studio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ja-JP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ja-JP" smtClean="0"/>
              <a:t>1/27/13</a:t>
            </a:fld>
            <a:endParaRPr lang="ja-JP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ja-JP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ja-JP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ja-JP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ja-JP" smtClean="0"/>
              <a:t>‹#›</a:t>
            </a:fld>
            <a:endParaRPr 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ja-JP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ja-JP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ja-JP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ja-JP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ja-JP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a719e2c1f1daee3.png"/>
  <Relationship Id="rId3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ef6277b1dd2a4b96.png"/>
  <Relationship Id="rId3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s://github.com/kons-9/uai-studio" TargetMode="External"/>
  <Relationship Id="rId3" Type="http://schemas.openxmlformats.org/officeDocument/2006/relationships/notesSlide" Target="../notesSlides/notesSlide2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field"/>
          <p:cNvSpPr/>
          <p:nvPr/>
        </p:nvSpPr>
        <p:spPr>
          <a:xfrm>
            <a:off x="0" y="0"/>
            <a:ext cx="4762500" cy="6858000"/>
          </a:xfrm>
          <a:prstGeom prst="rect">
            <a:avLst/>
          </a:prstGeom>
          <a:solidFill>
            <a:srgbClr val="0B2A3C"/>
          </a:solidFill>
          <a:ln>
            <a:noFill/>
          </a:ln>
        </p:spPr>
      </p:sp>
      <p:grpSp>
        <p:nvGrpSpPr>
          <p:cNvPr id="5" name="cover-contest"/>
          <p:cNvGrpSpPr/>
          <p:nvPr/>
        </p:nvGrpSpPr>
        <p:grpSpPr>
          <a:xfrm>
            <a:off x="522732" y="921068"/>
            <a:ext cx="3413760" cy="786955"/>
            <a:chOff x="522732" y="921068"/>
            <a:chExt cx="3413760" cy="786955"/>
          </a:xfrm>
        </p:grpSpPr>
        <p:sp>
          <p:nvSpPr>
            <p:cNvPr id="3" name="TextBox 3"/>
            <p:cNvSpPr txBox="1"/>
            <p:nvPr/>
          </p:nvSpPr>
          <p:spPr>
            <a:xfrm>
              <a:off x="526542" y="921068"/>
              <a:ext cx="30903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rgbClr val="9FC3D3"/>
                  </a:solidFill>
                  <a:latin typeface="+mn-lt"/>
                  <a:ea typeface="+mn-ea"/>
                  <a:cs typeface="+mn-cs"/>
                </a:rPr>
                <a:t>TRONプログラミングコンテスト2026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2732" y="1297305"/>
              <a:ext cx="34137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開発環境・開発ツール部門</a:t>
              </a:r>
            </a:p>
          </p:txBody>
        </p:sp>
      </p:grpSp>
      <p:grpSp>
        <p:nvGrpSpPr>
          <p:cNvPr id="10" name="cover-icon"/>
          <p:cNvGrpSpPr/>
          <p:nvPr/>
        </p:nvGrpSpPr>
        <p:grpSpPr>
          <a:xfrm>
            <a:off x="619125" y="3124200"/>
            <a:ext cx="514350" cy="457200"/>
            <a:chOff x="619125" y="3124200"/>
            <a:chExt cx="514350" cy="457200"/>
          </a:xfrm>
        </p:grpSpPr>
        <p:grpSp>
          <p:nvGrpSpPr>
            <p:cNvPr id="9" name="Group 9"/>
            <p:cNvGrpSpPr/>
            <p:nvPr/>
          </p:nvGrpSpPr>
          <p:grpSpPr>
            <a:xfrm>
              <a:off x="619125" y="3124200"/>
              <a:ext cx="514350" cy="457200"/>
              <a:chOff x="619125" y="3124200"/>
              <a:chExt cx="514350" cy="4572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762000" y="3267075"/>
                <a:ext cx="8572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171450">
                    <a:moveTo>
                      <a:pt x="0" y="0"/>
                    </a:moveTo>
                    <a:lnTo>
                      <a:pt x="85725" y="85725"/>
                    </a:lnTo>
                    <a:lnTo>
                      <a:pt x="0" y="171450"/>
                    </a:lnTo>
                  </a:path>
                </a:pathLst>
              </a:custGeom>
              <a:noFill/>
              <a:ln w="42862">
                <a:solidFill>
                  <a:srgbClr val="9FC3D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904875" y="3438525"/>
                <a:ext cx="857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9525">
                    <a:moveTo>
                      <a:pt x="0" y="0"/>
                    </a:moveTo>
                    <a:lnTo>
                      <a:pt x="85725" y="0"/>
                    </a:lnTo>
                  </a:path>
                </a:pathLst>
              </a:custGeom>
              <a:noFill/>
              <a:ln w="42862">
                <a:solidFill>
                  <a:srgbClr val="9FC3D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619125" y="3124200"/>
                <a:ext cx="514350" cy="457200"/>
              </a:xfrm>
              <a:custGeom>
                <a:avLst/>
                <a:gdLst/>
                <a:ahLst/>
                <a:cxnLst/>
                <a:rect l="l" t="t" r="r" b="b"/>
                <a:pathLst>
                  <a:path w="514350" h="457200">
                    <a:moveTo>
                      <a:pt x="0" y="57150"/>
                    </a:moveTo>
                    <a:cubicBezTo>
                      <a:pt x="0" y="25587"/>
                      <a:pt x="25587" y="0"/>
                      <a:pt x="57150" y="0"/>
                    </a:cubicBezTo>
                    <a:lnTo>
                      <a:pt x="457200" y="0"/>
                    </a:lnTo>
                    <a:cubicBezTo>
                      <a:pt x="488763" y="0"/>
                      <a:pt x="514350" y="25587"/>
                      <a:pt x="514350" y="57150"/>
                    </a:cubicBezTo>
                    <a:lnTo>
                      <a:pt x="514350" y="400050"/>
                    </a:lnTo>
                    <a:cubicBezTo>
                      <a:pt x="514350" y="431613"/>
                      <a:pt x="488763" y="457200"/>
                      <a:pt x="457200" y="457200"/>
                    </a:cubicBezTo>
                    <a:lnTo>
                      <a:pt x="57150" y="457200"/>
                    </a:lnTo>
                    <a:cubicBezTo>
                      <a:pt x="25587" y="457200"/>
                      <a:pt x="0" y="431613"/>
                      <a:pt x="0" y="400050"/>
                    </a:cubicBezTo>
                    <a:lnTo>
                      <a:pt x="0" y="57150"/>
                    </a:lnTo>
                  </a:path>
                </a:pathLst>
              </a:custGeom>
              <a:noFill/>
              <a:ln w="42862">
                <a:solidFill>
                  <a:srgbClr val="9FC3D3"/>
                </a:solidFill>
              </a:ln>
            </p:spPr>
          </p:sp>
        </p:grpSp>
      </p:grpSp>
      <p:grpSp>
        <p:nvGrpSpPr>
          <p:cNvPr id="21" name="cover-cycle"/>
          <p:cNvGrpSpPr/>
          <p:nvPr/>
        </p:nvGrpSpPr>
        <p:grpSpPr>
          <a:xfrm>
            <a:off x="525780" y="4762500"/>
            <a:ext cx="3703320" cy="1064895"/>
            <a:chOff x="525780" y="4762500"/>
            <a:chExt cx="3703320" cy="1064895"/>
          </a:xfrm>
        </p:grpSpPr>
        <p:sp>
          <p:nvSpPr>
            <p:cNvPr id="11" name="Freeform 11"/>
            <p:cNvSpPr/>
            <p:nvPr/>
          </p:nvSpPr>
          <p:spPr>
            <a:xfrm>
              <a:off x="533400" y="4762500"/>
              <a:ext cx="1066800" cy="495300"/>
            </a:xfrm>
            <a:prstGeom prst="chevron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1409700" y="4762500"/>
              <a:ext cx="1066800" cy="495300"/>
            </a:xfrm>
            <a:prstGeom prst="chevron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286000" y="4762500"/>
              <a:ext cx="1066800" cy="495300"/>
            </a:xfrm>
            <a:prstGeom prst="chevron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3162300" y="4762500"/>
              <a:ext cx="1066800" cy="495300"/>
            </a:xfrm>
            <a:prstGeom prst="chevron">
              <a:avLst/>
            </a:prstGeom>
            <a:solidFill>
              <a:srgbClr val="0B6E8E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926109" y="4929664"/>
              <a:ext cx="2986481" cy="249364"/>
              <a:chOff x="926109" y="4929664"/>
              <a:chExt cx="2986481" cy="249364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926109" y="4929664"/>
                <a:ext cx="35758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作る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716253" y="4929664"/>
                <a:ext cx="52989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動かす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2678709" y="4929664"/>
                <a:ext cx="35758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測る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555009" y="4929664"/>
                <a:ext cx="35758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8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直す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525780" y="55340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を、すべてコマンドで回せる</a:t>
              </a:r>
            </a:p>
          </p:txBody>
        </p:sp>
      </p:grpSp>
      <p:grpSp>
        <p:nvGrpSpPr>
          <p:cNvPr id="24" name="cover-title"/>
          <p:cNvGrpSpPr/>
          <p:nvPr/>
        </p:nvGrpSpPr>
        <p:grpSpPr>
          <a:xfrm>
            <a:off x="5467350" y="2495550"/>
            <a:ext cx="4211412" cy="1162050"/>
            <a:chOff x="5467350" y="2495550"/>
            <a:chExt cx="4211412" cy="1162050"/>
          </a:xfrm>
        </p:grpSpPr>
        <p:sp>
          <p:nvSpPr>
            <p:cNvPr id="22" name="TextBox 22"/>
            <p:cNvSpPr txBox="1"/>
            <p:nvPr/>
          </p:nvSpPr>
          <p:spPr>
            <a:xfrm>
              <a:off x="5467350" y="2495550"/>
              <a:ext cx="4211412" cy="1162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600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μAI-Studio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524500" y="3448050"/>
              <a:ext cx="914400" cy="5715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</p:grpSp>
      <p:grpSp>
        <p:nvGrpSpPr>
          <p:cNvPr id="26" name="cover-subtitle"/>
          <p:cNvGrpSpPr/>
          <p:nvPr/>
        </p:nvGrpSpPr>
        <p:grpSpPr>
          <a:xfrm>
            <a:off x="5474208" y="3989070"/>
            <a:ext cx="5151692" cy="469392"/>
            <a:chOff x="5474208" y="3989070"/>
            <a:chExt cx="5151692" cy="469392"/>
          </a:xfrm>
        </p:grpSpPr>
        <p:sp>
          <p:nvSpPr>
            <p:cNvPr id="25" name="TextBox 25"/>
            <p:cNvSpPr txBox="1"/>
            <p:nvPr/>
          </p:nvSpPr>
          <p:spPr>
            <a:xfrm>
              <a:off x="5474208" y="3989070"/>
              <a:ext cx="515169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4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μT-Kernel 3.0向けエッジAI開発環境</a:t>
              </a:r>
            </a:p>
          </p:txBody>
        </p:sp>
      </p:grpSp>
      <p:grpSp>
        <p:nvGrpSpPr>
          <p:cNvPr id="28" name="cover-author"/>
          <p:cNvGrpSpPr/>
          <p:nvPr/>
        </p:nvGrpSpPr>
        <p:grpSpPr>
          <a:xfrm>
            <a:off x="5477256" y="5520690"/>
            <a:ext cx="987552" cy="352044"/>
            <a:chOff x="5477256" y="5520690"/>
            <a:chExt cx="987552" cy="352044"/>
          </a:xfrm>
        </p:grpSpPr>
        <p:sp>
          <p:nvSpPr>
            <p:cNvPr id="27" name="TextBox 27"/>
            <p:cNvSpPr txBox="1"/>
            <p:nvPr/>
          </p:nvSpPr>
          <p:spPr>
            <a:xfrm>
              <a:off x="5477256" y="55206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dirty="0">
                  <a:solidFill>
                    <a:srgbClr val="486581"/>
                  </a:solidFill>
                  <a:latin typeface="+mn-lt"/>
                  <a:ea typeface="+mn-ea"/>
                  <a:cs typeface="+mn-cs"/>
                </a:rPr>
                <a:t>後藤俊樹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33400" y="533400"/>
            <a:ext cx="2682724" cy="528257"/>
            <a:chOff x="533400" y="533400"/>
            <a:chExt cx="2682724" cy="528257"/>
          </a:xfrm>
        </p:grpSpPr>
        <p:sp>
          <p:nvSpPr>
            <p:cNvPr id="2" name="Rectangle 2"/>
            <p:cNvSpPr/>
            <p:nvPr/>
          </p:nvSpPr>
          <p:spPr>
            <a:xfrm>
              <a:off x="533400" y="533400"/>
              <a:ext cx="57150" cy="36195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996" y="562928"/>
              <a:ext cx="24861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5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μAI-Studioとは</a:t>
              </a:r>
            </a:p>
          </p:txBody>
        </p:sp>
      </p:grpSp>
      <p:grpSp>
        <p:nvGrpSpPr>
          <p:cNvPr id="7" name="definition"/>
          <p:cNvGrpSpPr/>
          <p:nvPr/>
        </p:nvGrpSpPr>
        <p:grpSpPr>
          <a:xfrm>
            <a:off x="524256" y="1215390"/>
            <a:ext cx="6972168" cy="687705"/>
            <a:chOff x="524256" y="1215390"/>
            <a:chExt cx="6972168" cy="687705"/>
          </a:xfrm>
        </p:grpSpPr>
        <p:sp>
          <p:nvSpPr>
            <p:cNvPr id="5" name="TextBox 5"/>
            <p:cNvSpPr txBox="1"/>
            <p:nvPr/>
          </p:nvSpPr>
          <p:spPr>
            <a:xfrm>
              <a:off x="524256" y="1215390"/>
              <a:ext cx="69721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80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μT-Kernel 3.0でNPUを使うAIアプリを開発するための開発環境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5780" y="1609725"/>
              <a:ext cx="55774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486581"/>
                  </a:solidFill>
                  <a:latin typeface="+mn-lt"/>
                  <a:ea typeface="+mn-ea"/>
                  <a:cs typeface="+mn-cs"/>
                </a:rPr>
                <a:t>対象：</a:t>
              </a:r>
              <a:r>
                <a:rPr lang="en-US" sz="150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STM32N6570-DK</a:t>
              </a:r>
              <a:r>
                <a:rPr lang="ja-JP" sz="1500" dirty="0">
                  <a:solidFill>
                    <a:srgbClr val="486581"/>
                  </a:solidFill>
                  <a:latin typeface="+mn-lt"/>
                  <a:ea typeface="+mn-ea"/>
                  <a:cs typeface="+mn-cs"/>
                </a:rPr>
                <a:t>（Cortex-M55＋Neural-ART NPU）</a:t>
              </a:r>
            </a:p>
          </p:txBody>
        </p:sp>
      </p:grpSp>
      <p:grpSp>
        <p:nvGrpSpPr>
          <p:cNvPr id="20" name="cli-flow"/>
          <p:cNvGrpSpPr/>
          <p:nvPr/>
        </p:nvGrpSpPr>
        <p:grpSpPr>
          <a:xfrm>
            <a:off x="526542" y="2159318"/>
            <a:ext cx="10865358" cy="831532"/>
            <a:chOff x="526542" y="2159318"/>
            <a:chExt cx="10865358" cy="831532"/>
          </a:xfrm>
        </p:grpSpPr>
        <p:sp>
          <p:nvSpPr>
            <p:cNvPr id="8" name="TextBox 8"/>
            <p:cNvSpPr txBox="1"/>
            <p:nvPr/>
          </p:nvSpPr>
          <p:spPr>
            <a:xfrm>
              <a:off x="526542" y="21593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b="1" dirty="0">
                  <a:solidFill>
                    <a:srgbClr val="0B6E8E"/>
                  </a:solidFill>
                  <a:latin typeface="+mn-lt"/>
                  <a:ea typeface="+mn-ea"/>
                  <a:cs typeface="+mn-cs"/>
                </a:rPr>
                <a:t>コマンドラインで一貫して扱う</a:t>
              </a:r>
            </a:p>
          </p:txBody>
        </p:sp>
        <p:sp>
          <p:nvSpPr>
            <p:cNvPr id="9" name="Freeform 9"/>
            <p:cNvSpPr/>
            <p:nvPr/>
          </p:nvSpPr>
          <p:spPr>
            <a:xfrm>
              <a:off x="533400" y="2457450"/>
              <a:ext cx="2324100" cy="533400"/>
            </a:xfrm>
            <a:prstGeom prst="homePlate">
              <a:avLst/>
            </a:prstGeom>
            <a:solidFill>
              <a:srgbClr val="DCEBF1"/>
            </a:solidFill>
            <a:ln>
              <a:noFill/>
            </a:ln>
          </p:spPr>
        </p:sp>
        <p:sp>
          <p:nvSpPr>
            <p:cNvPr id="10" name="Freeform 10"/>
            <p:cNvSpPr/>
            <p:nvPr/>
          </p:nvSpPr>
          <p:spPr>
            <a:xfrm>
              <a:off x="2667000" y="2457450"/>
              <a:ext cx="2324100" cy="533400"/>
            </a:xfrm>
            <a:prstGeom prst="chevron">
              <a:avLst/>
            </a:prstGeom>
            <a:solidFill>
              <a:srgbClr val="DCEBF1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800600" y="2457450"/>
              <a:ext cx="2324100" cy="533400"/>
            </a:xfrm>
            <a:prstGeom prst="chevron">
              <a:avLst/>
            </a:prstGeom>
            <a:solidFill>
              <a:srgbClr val="DCEBF1"/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6934200" y="2457450"/>
              <a:ext cx="2324100" cy="533400"/>
            </a:xfrm>
            <a:prstGeom prst="chevron">
              <a:avLst/>
            </a:prstGeom>
            <a:solidFill>
              <a:srgbClr val="DCEBF1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9067800" y="2457450"/>
              <a:ext cx="2324100" cy="533400"/>
            </a:xfrm>
            <a:prstGeom prst="chevron">
              <a:avLst/>
            </a:prstGeom>
            <a:solidFill>
              <a:srgbClr val="DCEBF1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1134110" y="2636996"/>
              <a:ext cx="9809810" cy="278702"/>
              <a:chOff x="1134110" y="2636996"/>
              <a:chExt cx="9809810" cy="278702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1134110" y="2636996"/>
                <a:ext cx="97028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420" b="1" dirty="0">
                    <a:solidFill>
                      <a:srgbClr val="0B2A3C"/>
                    </a:solidFill>
                    <a:latin typeface="+mn-lt"/>
                    <a:ea typeface="+mn-ea"/>
                    <a:cs typeface="+mn-cs"/>
                  </a:rPr>
                  <a:t>モデル変換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3477260" y="2636996"/>
                <a:ext cx="97028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420" b="1" dirty="0">
                    <a:solidFill>
                      <a:srgbClr val="0B2A3C"/>
                    </a:solidFill>
                    <a:latin typeface="+mn-lt"/>
                    <a:ea typeface="+mn-ea"/>
                    <a:cs typeface="+mn-cs"/>
                  </a:rPr>
                  <a:t>メモリ配置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802020" y="2636996"/>
                <a:ext cx="587959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420" b="1" dirty="0">
                    <a:solidFill>
                      <a:srgbClr val="0B2A3C"/>
                    </a:solidFill>
                    <a:latin typeface="+mn-lt"/>
                    <a:ea typeface="+mn-ea"/>
                    <a:cs typeface="+mn-cs"/>
                  </a:rPr>
                  <a:t>ビルド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840040" y="2636996"/>
                <a:ext cx="77912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420" b="1" dirty="0">
                    <a:solidFill>
                      <a:srgbClr val="0B2A3C"/>
                    </a:solidFill>
                    <a:latin typeface="+mn-lt"/>
                    <a:ea typeface="+mn-ea"/>
                    <a:cs typeface="+mn-cs"/>
                  </a:rPr>
                  <a:t>書き込み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9782480" y="2636996"/>
                <a:ext cx="1161440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420" b="1" dirty="0">
                    <a:solidFill>
                      <a:srgbClr val="0B2A3C"/>
                    </a:solidFill>
                    <a:latin typeface="+mn-lt"/>
                    <a:ea typeface="+mn-ea"/>
                    <a:cs typeface="+mn-cs"/>
                  </a:rPr>
                  <a:t>実行時の解析</a:t>
                </a:r>
              </a:p>
            </p:txBody>
          </p:sp>
        </p:grpSp>
      </p:grpSp>
      <p:grpSp>
        <p:nvGrpSpPr>
          <p:cNvPr id="52" name="tron-ai"/>
          <p:cNvGrpSpPr/>
          <p:nvPr/>
        </p:nvGrpSpPr>
        <p:grpSpPr>
          <a:xfrm>
            <a:off x="533400" y="3352800"/>
            <a:ext cx="11125200" cy="2819400"/>
            <a:chOff x="533400" y="3352800"/>
            <a:chExt cx="11125200" cy="2819400"/>
          </a:xfrm>
        </p:grpSpPr>
        <p:sp>
          <p:nvSpPr>
            <p:cNvPr id="21" name="Rectangle 21"/>
            <p:cNvSpPr/>
            <p:nvPr/>
          </p:nvSpPr>
          <p:spPr>
            <a:xfrm>
              <a:off x="533400" y="3352800"/>
              <a:ext cx="11125200" cy="2819400"/>
            </a:xfrm>
            <a:prstGeom prst="rect">
              <a:avLst/>
            </a:prstGeom>
            <a:solidFill>
              <a:srgbClr val="E6F1F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53618" y="3574732"/>
              <a:ext cx="32030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TRON×AIを2つの面で実現する</a:t>
              </a:r>
            </a:p>
          </p:txBody>
        </p:sp>
        <p:grpSp>
          <p:nvGrpSpPr>
            <p:cNvPr id="37" name="face-runtime"/>
            <p:cNvGrpSpPr/>
            <p:nvPr/>
          </p:nvGrpSpPr>
          <p:grpSpPr>
            <a:xfrm>
              <a:off x="762000" y="3943350"/>
              <a:ext cx="5219700" cy="2000250"/>
              <a:chOff x="762000" y="3943350"/>
              <a:chExt cx="5219700" cy="20002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762000" y="3943350"/>
                <a:ext cx="5219700" cy="20002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34" name="Group 34"/>
              <p:cNvGrpSpPr/>
              <p:nvPr/>
            </p:nvGrpSpPr>
            <p:grpSpPr>
              <a:xfrm>
                <a:off x="1081087" y="4224337"/>
                <a:ext cx="314325" cy="314325"/>
                <a:chOff x="1081087" y="4224337"/>
                <a:chExt cx="314325" cy="314325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1116012" y="4259262"/>
                  <a:ext cx="244475" cy="2444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4475" h="244475">
                      <a:moveTo>
                        <a:pt x="0" y="17462"/>
                      </a:moveTo>
                      <a:cubicBezTo>
                        <a:pt x="0" y="7818"/>
                        <a:pt x="7818" y="0"/>
                        <a:pt x="17462" y="0"/>
                      </a:cubicBezTo>
                      <a:lnTo>
                        <a:pt x="227012" y="0"/>
                      </a:lnTo>
                      <a:cubicBezTo>
                        <a:pt x="236656" y="0"/>
                        <a:pt x="244475" y="7818"/>
                        <a:pt x="244475" y="17462"/>
                      </a:cubicBezTo>
                      <a:lnTo>
                        <a:pt x="244475" y="227012"/>
                      </a:lnTo>
                      <a:cubicBezTo>
                        <a:pt x="244475" y="236656"/>
                        <a:pt x="236656" y="244475"/>
                        <a:pt x="227012" y="244475"/>
                      </a:cubicBezTo>
                      <a:lnTo>
                        <a:pt x="17462" y="244475"/>
                      </a:lnTo>
                      <a:cubicBezTo>
                        <a:pt x="7818" y="244475"/>
                        <a:pt x="0" y="236656"/>
                        <a:pt x="0" y="227012"/>
                      </a:cubicBezTo>
                      <a:lnTo>
                        <a:pt x="0" y="17462"/>
                      </a:lnTo>
                    </a:path>
                  </a:pathLst>
                </a:custGeom>
                <a:noFill/>
                <a:ln w="34925">
                  <a:solidFill>
                    <a:srgbClr val="0B6E8E"/>
                  </a:solidFill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185862" y="4329112"/>
                  <a:ext cx="10477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104775">
                      <a:moveTo>
                        <a:pt x="0" y="0"/>
                      </a:moveTo>
                      <a:lnTo>
                        <a:pt x="104775" y="0"/>
                      </a:lnTo>
                      <a:lnTo>
                        <a:pt x="104775" y="104775"/>
                      </a:lnTo>
                      <a:lnTo>
                        <a:pt x="0" y="104775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34925">
                  <a:solidFill>
                    <a:srgbClr val="0B6E8E"/>
                  </a:solidFill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081087" y="4346575"/>
                  <a:ext cx="349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9525">
                      <a:moveTo>
                        <a:pt x="0" y="0"/>
                      </a:moveTo>
                      <a:lnTo>
                        <a:pt x="34925" y="0"/>
                      </a:lnTo>
                    </a:path>
                  </a:pathLst>
                </a:custGeom>
                <a:noFill/>
                <a:ln w="34925">
                  <a:solidFill>
                    <a:srgbClr val="0B6E8E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1081087" y="4416425"/>
                  <a:ext cx="349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9525">
                      <a:moveTo>
                        <a:pt x="0" y="0"/>
                      </a:moveTo>
                      <a:lnTo>
                        <a:pt x="34925" y="0"/>
                      </a:lnTo>
                    </a:path>
                  </a:pathLst>
                </a:custGeom>
                <a:noFill/>
                <a:ln w="34925">
                  <a:solidFill>
                    <a:srgbClr val="0B6E8E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1203325" y="4224337"/>
                  <a:ext cx="95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925">
                      <a:moveTo>
                        <a:pt x="0" y="0"/>
                      </a:moveTo>
                      <a:lnTo>
                        <a:pt x="0" y="34925"/>
                      </a:lnTo>
                    </a:path>
                  </a:pathLst>
                </a:custGeom>
                <a:noFill/>
                <a:ln w="34925">
                  <a:solidFill>
                    <a:srgbClr val="0B6E8E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273175" y="4224337"/>
                  <a:ext cx="95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925">
                      <a:moveTo>
                        <a:pt x="0" y="0"/>
                      </a:moveTo>
                      <a:lnTo>
                        <a:pt x="0" y="34925"/>
                      </a:lnTo>
                    </a:path>
                  </a:pathLst>
                </a:custGeom>
                <a:noFill/>
                <a:ln w="34925">
                  <a:solidFill>
                    <a:srgbClr val="0B6E8E"/>
                  </a:solidFill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1360487" y="4346575"/>
                  <a:ext cx="349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9525">
                      <a:moveTo>
                        <a:pt x="34925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4925">
                  <a:solidFill>
                    <a:srgbClr val="0B6E8E"/>
                  </a:solidFill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1360487" y="4416425"/>
                  <a:ext cx="349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925" h="9525">
                      <a:moveTo>
                        <a:pt x="34925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4925">
                  <a:solidFill>
                    <a:srgbClr val="0B6E8E"/>
                  </a:solidFill>
                </a:ln>
              </p:spPr>
            </p:sp>
            <p:sp>
              <p:nvSpPr>
                <p:cNvPr id="32" name="Freeform 32"/>
                <p:cNvSpPr/>
                <p:nvPr/>
              </p:nvSpPr>
              <p:spPr>
                <a:xfrm>
                  <a:off x="1273175" y="4503737"/>
                  <a:ext cx="95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925">
                      <a:moveTo>
                        <a:pt x="0" y="349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4925">
                  <a:solidFill>
                    <a:srgbClr val="0B6E8E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1203325" y="4503737"/>
                  <a:ext cx="95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925">
                      <a:moveTo>
                        <a:pt x="0" y="34925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34925">
                  <a:solidFill>
                    <a:srgbClr val="0B6E8E"/>
                  </a:solidFill>
                </a:ln>
              </p:spPr>
            </p:sp>
          </p:grpSp>
          <p:sp>
            <p:nvSpPr>
              <p:cNvPr id="35" name="TextBox 35"/>
              <p:cNvSpPr txBox="1"/>
              <p:nvPr/>
            </p:nvSpPr>
            <p:spPr>
              <a:xfrm>
                <a:off x="1019556" y="4777740"/>
                <a:ext cx="237564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800" b="1" dirty="0">
                    <a:solidFill>
                      <a:srgbClr val="0B6E8E"/>
                    </a:solidFill>
                    <a:latin typeface="+mn-lt"/>
                    <a:ea typeface="+mn-ea"/>
                    <a:cs typeface="+mn-cs"/>
                  </a:rPr>
                  <a:t>μT-Kernel上で動くAI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021080" y="5229225"/>
                <a:ext cx="2490807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250"/>
                  </a:lnSpc>
                </a:pPr>
                <a:r>
                  <a:rPr lang="ja-JP" sz="150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NPU推論アプリを作るための</a:t>
                </a:r>
                <a:br/>
                <a:r>
                  <a:rPr lang="ja-JP" sz="150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ツールとミドルウェア</a:t>
                </a:r>
              </a:p>
            </p:txBody>
          </p:sp>
        </p:grpSp>
        <p:grpSp>
          <p:nvGrpSpPr>
            <p:cNvPr id="51" name="face-agent"/>
            <p:cNvGrpSpPr/>
            <p:nvPr/>
          </p:nvGrpSpPr>
          <p:grpSpPr>
            <a:xfrm>
              <a:off x="6210300" y="3943350"/>
              <a:ext cx="5219700" cy="2000250"/>
              <a:chOff x="6210300" y="3943350"/>
              <a:chExt cx="5219700" cy="2000250"/>
            </a:xfrm>
          </p:grpSpPr>
          <p:sp>
            <p:nvSpPr>
              <p:cNvPr id="38" name="Rectangle 38"/>
              <p:cNvSpPr/>
              <p:nvPr/>
            </p:nvSpPr>
            <p:spPr>
              <a:xfrm>
                <a:off x="6210300" y="3943350"/>
                <a:ext cx="5219700" cy="20002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grpSp>
            <p:nvGrpSpPr>
              <p:cNvPr id="48" name="Group 48"/>
              <p:cNvGrpSpPr/>
              <p:nvPr/>
            </p:nvGrpSpPr>
            <p:grpSpPr>
              <a:xfrm>
                <a:off x="6564312" y="4206875"/>
                <a:ext cx="244475" cy="331787"/>
                <a:chOff x="6564312" y="4206875"/>
                <a:chExt cx="244475" cy="331787"/>
              </a:xfrm>
            </p:grpSpPr>
            <p:sp>
              <p:nvSpPr>
                <p:cNvPr id="39" name="Freeform 39"/>
                <p:cNvSpPr/>
                <p:nvPr/>
              </p:nvSpPr>
              <p:spPr>
                <a:xfrm>
                  <a:off x="6581775" y="4241800"/>
                  <a:ext cx="209550" cy="1397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550" h="139700">
                      <a:moveTo>
                        <a:pt x="0" y="34925"/>
                      </a:moveTo>
                      <a:cubicBezTo>
                        <a:pt x="0" y="15636"/>
                        <a:pt x="15636" y="0"/>
                        <a:pt x="34925" y="0"/>
                      </a:cubicBezTo>
                      <a:lnTo>
                        <a:pt x="174625" y="0"/>
                      </a:lnTo>
                      <a:cubicBezTo>
                        <a:pt x="193913" y="0"/>
                        <a:pt x="209550" y="15636"/>
                        <a:pt x="209550" y="34925"/>
                      </a:cubicBezTo>
                      <a:lnTo>
                        <a:pt x="209550" y="104775"/>
                      </a:lnTo>
                      <a:cubicBezTo>
                        <a:pt x="209550" y="124063"/>
                        <a:pt x="193913" y="139700"/>
                        <a:pt x="174625" y="139700"/>
                      </a:cubicBezTo>
                      <a:lnTo>
                        <a:pt x="34925" y="139700"/>
                      </a:lnTo>
                      <a:cubicBezTo>
                        <a:pt x="15636" y="139700"/>
                        <a:pt x="0" y="124063"/>
                        <a:pt x="0" y="104775"/>
                      </a:cubicBezTo>
                      <a:lnTo>
                        <a:pt x="0" y="34925"/>
                      </a:lnTo>
                    </a:path>
                  </a:pathLst>
                </a:custGeom>
                <a:noFill/>
                <a:ln w="34925">
                  <a:solidFill>
                    <a:srgbClr val="0B6E8E"/>
                  </a:solidFill>
                </a:ln>
              </p:spPr>
            </p:sp>
            <p:sp>
              <p:nvSpPr>
                <p:cNvPr id="40" name="Freeform 40"/>
                <p:cNvSpPr/>
                <p:nvPr/>
              </p:nvSpPr>
              <p:spPr>
                <a:xfrm>
                  <a:off x="6686550" y="4206875"/>
                  <a:ext cx="9525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34925">
                      <a:moveTo>
                        <a:pt x="0" y="0"/>
                      </a:moveTo>
                      <a:lnTo>
                        <a:pt x="0" y="34925"/>
                      </a:lnTo>
                    </a:path>
                  </a:pathLst>
                </a:custGeom>
                <a:noFill/>
                <a:ln w="34925">
                  <a:solidFill>
                    <a:srgbClr val="0B6E8E"/>
                  </a:solidFill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6634162" y="4381500"/>
                  <a:ext cx="9525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7162">
                      <a:moveTo>
                        <a:pt x="0" y="0"/>
                      </a:moveTo>
                      <a:lnTo>
                        <a:pt x="0" y="157162"/>
                      </a:lnTo>
                    </a:path>
                  </a:pathLst>
                </a:custGeom>
                <a:noFill/>
                <a:ln w="34925">
                  <a:solidFill>
                    <a:srgbClr val="0B6E8E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6738937" y="4381500"/>
                  <a:ext cx="9525" cy="1571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157162">
                      <a:moveTo>
                        <a:pt x="0" y="0"/>
                      </a:moveTo>
                      <a:lnTo>
                        <a:pt x="0" y="157162"/>
                      </a:lnTo>
                    </a:path>
                  </a:pathLst>
                </a:custGeom>
                <a:noFill/>
                <a:ln w="34925">
                  <a:solidFill>
                    <a:srgbClr val="0B6E8E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6564312" y="4416425"/>
                  <a:ext cx="69850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34925">
                      <a:moveTo>
                        <a:pt x="0" y="34925"/>
                      </a:moveTo>
                      <a:lnTo>
                        <a:pt x="69850" y="0"/>
                      </a:lnTo>
                    </a:path>
                  </a:pathLst>
                </a:custGeom>
                <a:noFill/>
                <a:ln w="34925">
                  <a:solidFill>
                    <a:srgbClr val="0B6E8E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6738937" y="4416425"/>
                  <a:ext cx="69850" cy="34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850" h="34925">
                      <a:moveTo>
                        <a:pt x="0" y="0"/>
                      </a:moveTo>
                      <a:lnTo>
                        <a:pt x="69850" y="34925"/>
                      </a:lnTo>
                    </a:path>
                  </a:pathLst>
                </a:custGeom>
                <a:noFill/>
                <a:ln w="34925">
                  <a:solidFill>
                    <a:srgbClr val="0B6E8E"/>
                  </a:solidFill>
                </a:ln>
              </p:spPr>
            </p:sp>
            <p:sp>
              <p:nvSpPr>
                <p:cNvPr id="45" name="Freeform 45"/>
                <p:cNvSpPr/>
                <p:nvPr/>
              </p:nvSpPr>
              <p:spPr>
                <a:xfrm>
                  <a:off x="6634162" y="4486274"/>
                  <a:ext cx="10477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4775" h="9525">
                      <a:moveTo>
                        <a:pt x="0" y="0"/>
                      </a:moveTo>
                      <a:lnTo>
                        <a:pt x="104775" y="0"/>
                      </a:lnTo>
                    </a:path>
                  </a:pathLst>
                </a:custGeom>
                <a:noFill/>
                <a:ln w="34925">
                  <a:solidFill>
                    <a:srgbClr val="0B6E8E"/>
                  </a:solidFill>
                </a:ln>
              </p:spPr>
            </p:sp>
            <p:sp>
              <p:nvSpPr>
                <p:cNvPr id="46" name="Freeform 46"/>
                <p:cNvSpPr/>
                <p:nvPr/>
              </p:nvSpPr>
              <p:spPr>
                <a:xfrm>
                  <a:off x="6651625" y="43116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75"/>
                      </a:lnTo>
                    </a:path>
                  </a:pathLst>
                </a:custGeom>
                <a:noFill/>
                <a:ln w="34925">
                  <a:solidFill>
                    <a:srgbClr val="0B6E8E"/>
                  </a:solidFill>
                </a:ln>
              </p:spPr>
            </p:sp>
            <p:sp>
              <p:nvSpPr>
                <p:cNvPr id="47" name="Freeform 47"/>
                <p:cNvSpPr/>
                <p:nvPr/>
              </p:nvSpPr>
              <p:spPr>
                <a:xfrm>
                  <a:off x="6721475" y="4311650"/>
                  <a:ext cx="9525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9525">
                      <a:moveTo>
                        <a:pt x="0" y="0"/>
                      </a:moveTo>
                      <a:lnTo>
                        <a:pt x="0" y="175"/>
                      </a:lnTo>
                    </a:path>
                  </a:pathLst>
                </a:custGeom>
                <a:noFill/>
                <a:ln w="34925">
                  <a:solidFill>
                    <a:srgbClr val="0B6E8E"/>
                  </a:solidFill>
                </a:ln>
              </p:spPr>
            </p:sp>
          </p:grpSp>
          <p:sp>
            <p:nvSpPr>
              <p:cNvPr id="49" name="TextBox 49"/>
              <p:cNvSpPr txBox="1"/>
              <p:nvPr/>
            </p:nvSpPr>
            <p:spPr>
              <a:xfrm>
                <a:off x="6467856" y="4777740"/>
                <a:ext cx="342954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800" b="1" dirty="0">
                    <a:solidFill>
                      <a:srgbClr val="0B6E8E"/>
                    </a:solidFill>
                    <a:latin typeface="+mn-lt"/>
                    <a:ea typeface="+mn-ea"/>
                    <a:cs typeface="+mn-cs"/>
                  </a:rPr>
                  <a:t>AIが開発に参加できる開発環境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6469380" y="5229225"/>
                <a:ext cx="2474805" cy="579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2250"/>
                  </a:lnSpc>
                </a:pPr>
                <a:r>
                  <a:rPr lang="ja-JP" sz="150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AIエージェントがビルドから</a:t>
                </a:r>
                <a:br/>
                <a:r>
                  <a:rPr lang="ja-JP" sz="150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実機確認まで進められる</a:t>
                </a:r>
              </a:p>
            </p:txBody>
          </p:sp>
        </p:grpSp>
      </p:grpSp>
      <p:grpSp>
        <p:nvGrpSpPr>
          <p:cNvPr id="55" name="footer"/>
          <p:cNvGrpSpPr/>
          <p:nvPr/>
        </p:nvGrpSpPr>
        <p:grpSpPr>
          <a:xfrm>
            <a:off x="528066" y="6535102"/>
            <a:ext cx="11135868" cy="205359"/>
            <a:chOff x="528066" y="6535102"/>
            <a:chExt cx="11135868" cy="205359"/>
          </a:xfrm>
        </p:grpSpPr>
        <p:sp>
          <p:nvSpPr>
            <p:cNvPr id="53" name="TextBox 53"/>
            <p:cNvSpPr txBox="1"/>
            <p:nvPr/>
          </p:nvSpPr>
          <p:spPr>
            <a:xfrm>
              <a:off x="528066" y="6535102"/>
              <a:ext cx="689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μAI-Studio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0861" y="6535102"/>
              <a:ext cx="16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33400" y="533400"/>
            <a:ext cx="909066" cy="528257"/>
            <a:chOff x="533400" y="533400"/>
            <a:chExt cx="909066" cy="528257"/>
          </a:xfrm>
        </p:grpSpPr>
        <p:sp>
          <p:nvSpPr>
            <p:cNvPr id="2" name="Rectangle 2"/>
            <p:cNvSpPr/>
            <p:nvPr/>
          </p:nvSpPr>
          <p:spPr>
            <a:xfrm>
              <a:off x="533400" y="533400"/>
              <a:ext cx="57150" cy="36195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996" y="562928"/>
              <a:ext cx="7124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5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構成</a:t>
              </a:r>
            </a:p>
          </p:txBody>
        </p:sp>
      </p:grpSp>
      <p:graphicFrame>
        <p:nvGraphicFramePr>
          <p:cNvPr id="5" name="p03-components"/>
          <p:cNvGraphicFramePr>
            <a:graphicFrameLocks noGrp="1"/>
          </p:cNvGraphicFramePr>
          <p:nvPr/>
        </p:nvGraphicFramePr>
        <p:xfrm>
          <a:off x="533400" y="1428750"/>
          <a:ext cx="11125200" cy="43434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619250"/>
                <a:gridCol w="4191000"/>
                <a:gridCol w="5314950"/>
              </a:tblGrid>
              <a:tr h="457200">
                <a:tc>
                  <a:txBody>
                    <a:bodyPr/>
                    <a:lstStyle/>
                    <a:p>
                      <a:pPr/>
                      <a:r>
                        <a:rPr lang="ja-JP" sz="1200" b="1">
                          <a:solidFill>
                            <a:srgbClr val="FFFFFF"/>
                          </a:solidFill>
                          <a:latin typeface="Segoe UI"/>
                          <a:ea typeface="Meiryo"/>
                          <a:cs typeface="Segoe UI"/>
                        </a:rPr>
                        <a:t>分類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200" b="1">
                          <a:solidFill>
                            <a:srgbClr val="FFFFFF"/>
                          </a:solidFill>
                          <a:latin typeface="Segoe UI"/>
                          <a:ea typeface="Meiryo"/>
                          <a:cs typeface="Segoe UI"/>
                        </a:rPr>
                        <a:t>構成要素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200" b="1">
                          <a:solidFill>
                            <a:srgbClr val="FFFFFF"/>
                          </a:solidFill>
                          <a:latin typeface="Segoe UI"/>
                          <a:ea typeface="Meiryo"/>
                          <a:cs typeface="Segoe UI"/>
                        </a:rPr>
                        <a:t>役割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2A43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/>
                      <a:r>
                        <a:rPr lang="ja-JP" sz="1200" b="1">
                          <a:solidFill>
                            <a:srgbClr val="0B6E8E"/>
                          </a:solidFill>
                          <a:latin typeface="Segoe UI"/>
                          <a:ea typeface="Meiryo"/>
                          <a:cs typeface="Segoe UI"/>
                        </a:rPr>
                        <a:t>開発基盤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20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CMakeとMakeによるCLI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20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μT-Kernelからアプリまでの一括ビルド、書き込み、UART監視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/>
                      <a:r>
                        <a:rPr lang="ja-JP" sz="1200" b="1">
                          <a:solidFill>
                            <a:srgbClr val="0B6E8E"/>
                          </a:solidFill>
                          <a:latin typeface="Segoe UI"/>
                          <a:ea typeface="Meiryo"/>
                          <a:cs typeface="Segoe UI"/>
                        </a:rPr>
                        <a:t>ホストツール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102A43"/>
                          </a:solidFill>
                          <a:latin typeface="Consolas"/>
                          <a:ea typeface="Consolas"/>
                          <a:cs typeface="Consolas"/>
                        </a:rPr>
                        <a:t>auto_static_memory_layout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20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メモリ配置の生成と検査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/>
                      <a:r>
                        <a:rPr lang="ja-JP" sz="1200" b="1">
                          <a:solidFill>
                            <a:srgbClr val="0B6E8E"/>
                          </a:solidFill>
                          <a:latin typeface="Segoe UI"/>
                          <a:ea typeface="Meiryo"/>
                          <a:cs typeface="Segoe UI"/>
                        </a:rPr>
                        <a:t>ホストツール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0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AI model monitor / CPU task monitor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20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実行記録の解析と可視化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/>
                      <a:r>
                        <a:rPr lang="ja-JP" sz="1200" b="1">
                          <a:solidFill>
                            <a:srgbClr val="0B6E8E"/>
                          </a:solidFill>
                          <a:latin typeface="Segoe UI"/>
                          <a:ea typeface="Meiryo"/>
                          <a:cs typeface="Segoe UI"/>
                        </a:rPr>
                        <a:t>ミドルウェア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102A43"/>
                          </a:solidFill>
                          <a:latin typeface="Consolas"/>
                          <a:ea typeface="Consolas"/>
                          <a:cs typeface="Consolas"/>
                        </a:rPr>
                        <a:t>ai_runtime</a:t>
                      </a:r>
                      <a:r>
                        <a:rPr lang="ja-JP" sz="120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、</a:t>
                      </a:r>
                      <a:r>
                        <a:rPr lang="en-US" sz="1200" b="0">
                          <a:solidFill>
                            <a:srgbClr val="102A43"/>
                          </a:solidFill>
                          <a:latin typeface="Consolas"/>
                          <a:ea typeface="Consolas"/>
                          <a:cs typeface="Consolas"/>
                        </a:rPr>
                        <a:t>memory_manager</a:t>
                      </a:r>
                      <a:r>
                        <a:rPr lang="ja-JP" sz="120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、</a:t>
                      </a:r>
                      <a:r>
                        <a:rPr lang="en-US" sz="1200" b="0">
                          <a:solidFill>
                            <a:srgbClr val="102A43"/>
                          </a:solidFill>
                          <a:latin typeface="Consolas"/>
                          <a:ea typeface="Consolas"/>
                          <a:cs typeface="Consolas"/>
                        </a:rPr>
                        <a:t>image_resizer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20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μT-Kernel上のAI実行基盤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/>
                      <a:r>
                        <a:rPr lang="ja-JP" sz="1200" b="1">
                          <a:solidFill>
                            <a:srgbClr val="0B6E8E"/>
                          </a:solidFill>
                          <a:latin typeface="Segoe UI"/>
                          <a:ea typeface="Meiryo"/>
                          <a:cs typeface="Segoe UI"/>
                        </a:rPr>
                        <a:t>μT-Kernel拡張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20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フックAPIの実装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20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タスク切替と割込みの記録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/>
                      <a:r>
                        <a:rPr lang="ja-JP" sz="1200" b="1">
                          <a:solidFill>
                            <a:srgbClr val="0B6E8E"/>
                          </a:solidFill>
                          <a:latin typeface="Segoe UI"/>
                          <a:ea typeface="Meiryo"/>
                          <a:cs typeface="Segoe UI"/>
                        </a:rPr>
                        <a:t>評価用サンプル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b="0">
                          <a:solidFill>
                            <a:srgbClr val="102A43"/>
                          </a:solidFill>
                          <a:latin typeface="Consolas"/>
                          <a:ea typeface="Consolas"/>
                          <a:cs typeface="Consolas"/>
                        </a:rPr>
                        <a:t>ai-app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20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カメラ表示＋3モデル推論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grpSp>
        <p:nvGrpSpPr>
          <p:cNvPr id="8" name="footer"/>
          <p:cNvGrpSpPr/>
          <p:nvPr/>
        </p:nvGrpSpPr>
        <p:grpSpPr>
          <a:xfrm>
            <a:off x="528066" y="6535102"/>
            <a:ext cx="11135868" cy="205359"/>
            <a:chOff x="528066" y="6535102"/>
            <a:chExt cx="11135868" cy="205359"/>
          </a:xfrm>
        </p:grpSpPr>
        <p:sp>
          <p:nvSpPr>
            <p:cNvPr id="6" name="TextBox 6"/>
            <p:cNvSpPr txBox="1"/>
            <p:nvPr/>
          </p:nvSpPr>
          <p:spPr>
            <a:xfrm>
              <a:off x="528066" y="6535102"/>
              <a:ext cx="689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μAI-Studio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500861" y="6535102"/>
              <a:ext cx="16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33400" y="533400"/>
            <a:ext cx="3312033" cy="528257"/>
            <a:chOff x="533400" y="533400"/>
            <a:chExt cx="3312033" cy="528257"/>
          </a:xfrm>
        </p:grpSpPr>
        <p:sp>
          <p:nvSpPr>
            <p:cNvPr id="2" name="Rectangle 2"/>
            <p:cNvSpPr/>
            <p:nvPr/>
          </p:nvSpPr>
          <p:spPr>
            <a:xfrm>
              <a:off x="533400" y="533400"/>
              <a:ext cx="57150" cy="36195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996" y="5629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5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従来の開発との違い</a:t>
              </a:r>
            </a:p>
          </p:txBody>
        </p:sp>
      </p:grpSp>
      <p:graphicFrame>
        <p:nvGraphicFramePr>
          <p:cNvPr id="5" name="p04-comparison"/>
          <p:cNvGraphicFramePr>
            <a:graphicFrameLocks noGrp="1"/>
          </p:cNvGraphicFramePr>
          <p:nvPr/>
        </p:nvGraphicFramePr>
        <p:xfrm>
          <a:off x="533400" y="1428750"/>
          <a:ext cx="11125200" cy="41529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905001"/>
                <a:gridCol w="3048000"/>
                <a:gridCol w="6172199"/>
              </a:tblGrid>
              <a:tr h="495300">
                <a:tc>
                  <a:txBody>
                    <a:bodyPr/>
                    <a:lstStyle/>
                    <a:p>
                      <a:pPr/>
                      <a:r>
                        <a:rPr lang="ja-JP" sz="1350" b="1">
                          <a:solidFill>
                            <a:srgbClr val="FFFFFF"/>
                          </a:solidFill>
                          <a:latin typeface="Segoe UI"/>
                          <a:ea typeface="Meiryo"/>
                          <a:cs typeface="Segoe UI"/>
                        </a:rPr>
                        <a:t/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350" b="1">
                          <a:solidFill>
                            <a:srgbClr val="FFFFFF"/>
                          </a:solidFill>
                          <a:latin typeface="Segoe UI"/>
                          <a:ea typeface="Meiryo"/>
                          <a:cs typeface="Segoe UI"/>
                        </a:rPr>
                        <a:t>ベンダーIDE中心の開発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l-GR" sz="1350" b="1">
                          <a:solidFill>
                            <a:srgbClr val="FFFFFF"/>
                          </a:solidFill>
                          <a:latin typeface="Segoe UI"/>
                          <a:ea typeface="Meiryo"/>
                          <a:cs typeface="Segoe UI"/>
                        </a:rPr>
                        <a:t>μAI-Studio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6E8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ja-JP" sz="1350" b="1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操作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350" b="0">
                          <a:solidFill>
                            <a:srgbClr val="627D98"/>
                          </a:solidFill>
                          <a:latin typeface="Segoe UI"/>
                          <a:ea typeface="Meiryo"/>
                          <a:cs typeface="Segoe UI"/>
                        </a:rPr>
                        <a:t>IDEのGUI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350" b="1">
                          <a:solidFill>
                            <a:srgbClr val="0B2A3C"/>
                          </a:solidFill>
                          <a:latin typeface="Segoe UI"/>
                          <a:ea typeface="Meiryo"/>
                          <a:cs typeface="Segoe UI"/>
                        </a:rPr>
                        <a:t>Makeのコマンド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6F1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ja-JP" sz="1350" b="1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エディタ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350" b="0">
                          <a:solidFill>
                            <a:srgbClr val="627D98"/>
                          </a:solidFill>
                          <a:latin typeface="Segoe UI"/>
                          <a:ea typeface="Meiryo"/>
                          <a:cs typeface="Segoe UI"/>
                        </a:rPr>
                        <a:t>IDEに固定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350" b="1">
                          <a:solidFill>
                            <a:srgbClr val="0B2A3C"/>
                          </a:solidFill>
                          <a:latin typeface="Segoe UI"/>
                          <a:ea typeface="Meiryo"/>
                          <a:cs typeface="Segoe UI"/>
                        </a:rPr>
                        <a:t>任意（LSP対応）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6F1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ja-JP" sz="1350" b="1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AIエージェント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350" b="0">
                          <a:solidFill>
                            <a:srgbClr val="627D98"/>
                          </a:solidFill>
                          <a:latin typeface="Segoe UI"/>
                          <a:ea typeface="Meiryo"/>
                          <a:cs typeface="Segoe UI"/>
                        </a:rPr>
                        <a:t>GUI操作は任せにくい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350" b="1">
                          <a:solidFill>
                            <a:srgbClr val="0B2A3C"/>
                          </a:solidFill>
                          <a:latin typeface="Segoe UI"/>
                          <a:ea typeface="Meiryo"/>
                          <a:cs typeface="Segoe UI"/>
                        </a:rPr>
                        <a:t>ビルドから実機確認まで任せられる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6F1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ja-JP" sz="1350" b="1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メモリ配置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350" b="0">
                          <a:solidFill>
                            <a:srgbClr val="627D98"/>
                          </a:solidFill>
                          <a:latin typeface="Segoe UI"/>
                          <a:ea typeface="Meiryo"/>
                          <a:cs typeface="Segoe UI"/>
                        </a:rPr>
                        <a:t>手で設定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350" b="1">
                          <a:solidFill>
                            <a:srgbClr val="0B2A3C"/>
                          </a:solidFill>
                          <a:latin typeface="Segoe UI"/>
                          <a:ea typeface="Meiryo"/>
                          <a:cs typeface="Segoe UI"/>
                        </a:rPr>
                        <a:t>生成して、ビルド時に検査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6F1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ja-JP" sz="1350" b="1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NPUとCPUの並列化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350" b="0">
                          <a:solidFill>
                            <a:srgbClr val="627D98"/>
                          </a:solidFill>
                          <a:latin typeface="Segoe UI"/>
                          <a:ea typeface="Meiryo"/>
                          <a:cs typeface="Segoe UI"/>
                        </a:rPr>
                        <a:t>アプリごとに作り込む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350" b="1">
                          <a:solidFill>
                            <a:srgbClr val="0B2A3C"/>
                          </a:solidFill>
                          <a:latin typeface="Segoe UI"/>
                          <a:ea typeface="Meiryo"/>
                          <a:cs typeface="Segoe UI"/>
                        </a:rPr>
                        <a:t>ミドルウェアがμT-Kernelのタスクで並列に実行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6F1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/>
                      <a:r>
                        <a:rPr lang="ja-JP" sz="1350" b="1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性能の解析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350" b="0">
                          <a:solidFill>
                            <a:srgbClr val="627D98"/>
                          </a:solidFill>
                          <a:latin typeface="Segoe UI"/>
                          <a:ea typeface="Meiryo"/>
                          <a:cs typeface="Segoe UI"/>
                        </a:rPr>
                        <a:t>個別に計測コードを書く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350" b="1">
                          <a:solidFill>
                            <a:srgbClr val="0B2A3C"/>
                          </a:solidFill>
                          <a:latin typeface="Segoe UI"/>
                          <a:ea typeface="Meiryo"/>
                          <a:cs typeface="Segoe UI"/>
                        </a:rPr>
                        <a:t>タスク別、モデル別の記録を1コマンドで可視化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6F1F5"/>
                    </a:solidFill>
                  </a:tcPr>
                </a:tc>
              </a:tr>
            </a:tbl>
          </a:graphicData>
        </a:graphic>
      </p:graphicFrame>
      <p:grpSp>
        <p:nvGrpSpPr>
          <p:cNvPr id="8" name="footer"/>
          <p:cNvGrpSpPr/>
          <p:nvPr/>
        </p:nvGrpSpPr>
        <p:grpSpPr>
          <a:xfrm>
            <a:off x="528066" y="6535102"/>
            <a:ext cx="11135868" cy="205359"/>
            <a:chOff x="528066" y="6535102"/>
            <a:chExt cx="11135868" cy="205359"/>
          </a:xfrm>
        </p:grpSpPr>
        <p:sp>
          <p:nvSpPr>
            <p:cNvPr id="6" name="TextBox 6"/>
            <p:cNvSpPr txBox="1"/>
            <p:nvPr/>
          </p:nvSpPr>
          <p:spPr>
            <a:xfrm>
              <a:off x="528066" y="6535102"/>
              <a:ext cx="689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μAI-Studio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500861" y="6535102"/>
              <a:ext cx="16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33400" y="533400"/>
            <a:ext cx="1938909" cy="528257"/>
            <a:chOff x="533400" y="533400"/>
            <a:chExt cx="1938909" cy="528257"/>
          </a:xfrm>
        </p:grpSpPr>
        <p:sp>
          <p:nvSpPr>
            <p:cNvPr id="2" name="Rectangle 2"/>
            <p:cNvSpPr/>
            <p:nvPr/>
          </p:nvSpPr>
          <p:spPr>
            <a:xfrm>
              <a:off x="533400" y="533400"/>
              <a:ext cx="57150" cy="36195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996" y="5629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5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必要なもの</a:t>
              </a:r>
            </a:p>
          </p:txBody>
        </p:sp>
      </p:grpSp>
      <p:grpSp>
        <p:nvGrpSpPr>
          <p:cNvPr id="13" name="req-host"/>
          <p:cNvGrpSpPr/>
          <p:nvPr/>
        </p:nvGrpSpPr>
        <p:grpSpPr>
          <a:xfrm>
            <a:off x="525780" y="1295400"/>
            <a:ext cx="11132820" cy="579120"/>
            <a:chOff x="525780" y="1295400"/>
            <a:chExt cx="11132820" cy="579120"/>
          </a:xfrm>
        </p:grpSpPr>
        <p:sp>
          <p:nvSpPr>
            <p:cNvPr id="5" name="Line 5"/>
            <p:cNvSpPr/>
            <p:nvPr/>
          </p:nvSpPr>
          <p:spPr>
            <a:xfrm>
              <a:off x="533400" y="12954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CCCDC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25780" y="158115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ホストとボード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3810000" y="1485900"/>
              <a:ext cx="1905000" cy="381000"/>
            </a:xfrm>
            <a:prstGeom prst="roundRect">
              <a:avLst>
                <a:gd name="adj" fmla="val 10000"/>
              </a:avLst>
            </a:prstGeom>
            <a:solidFill>
              <a:srgbClr val="E6F1F5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829300" y="1485900"/>
              <a:ext cx="1581150" cy="381000"/>
            </a:xfrm>
            <a:prstGeom prst="roundRect">
              <a:avLst>
                <a:gd name="adj" fmla="val 10000"/>
              </a:avLst>
            </a:prstGeom>
            <a:solidFill>
              <a:srgbClr val="E6F1F5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3998727" y="1587818"/>
              <a:ext cx="3359320" cy="264033"/>
              <a:chOff x="3998727" y="1587818"/>
              <a:chExt cx="3359320" cy="264033"/>
            </a:xfrm>
          </p:grpSpPr>
          <p:sp>
            <p:nvSpPr>
              <p:cNvPr id="9" name="TextBox 9"/>
              <p:cNvSpPr txBox="1"/>
              <p:nvPr/>
            </p:nvSpPr>
            <p:spPr>
              <a:xfrm>
                <a:off x="3998727" y="1587818"/>
                <a:ext cx="15275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350" dirty="0">
                    <a:solidFill>
                      <a:srgbClr val="0B2A3C"/>
                    </a:solidFill>
                    <a:latin typeface="+mn-lt"/>
                    <a:ea typeface="+mn-ea"/>
                    <a:cs typeface="+mn-cs"/>
                  </a:rPr>
                  <a:t>ネイティブのLinux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5881703" y="1587818"/>
                <a:ext cx="147634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0B2A3C"/>
                    </a:solidFill>
                    <a:latin typeface="+mn-lt"/>
                    <a:ea typeface="+mn-ea"/>
                    <a:cs typeface="+mn-cs"/>
                  </a:rPr>
                  <a:t>STM32N6570-DK</a:t>
                </a:r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7555992" y="1587818"/>
              <a:ext cx="29019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rgbClr val="486581"/>
                  </a:solidFill>
                  <a:latin typeface="+mn-lt"/>
                  <a:ea typeface="+mn-ea"/>
                  <a:cs typeface="+mn-cs"/>
                </a:rPr>
                <a:t>（カメラモジュールとLCDは付属）</a:t>
              </a:r>
            </a:p>
          </p:txBody>
        </p:sp>
      </p:grpSp>
      <p:grpSp>
        <p:nvGrpSpPr>
          <p:cNvPr id="25" name="req-os"/>
          <p:cNvGrpSpPr/>
          <p:nvPr/>
        </p:nvGrpSpPr>
        <p:grpSpPr>
          <a:xfrm>
            <a:off x="525780" y="2057400"/>
            <a:ext cx="11132820" cy="579120"/>
            <a:chOff x="525780" y="2057400"/>
            <a:chExt cx="11132820" cy="579120"/>
          </a:xfrm>
        </p:grpSpPr>
        <p:sp>
          <p:nvSpPr>
            <p:cNvPr id="14" name="Line 14"/>
            <p:cNvSpPr/>
            <p:nvPr/>
          </p:nvSpPr>
          <p:spPr>
            <a:xfrm>
              <a:off x="533400" y="20574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9E2EC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5780" y="2343150"/>
              <a:ext cx="15081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OSのパッケージ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810000" y="2247900"/>
              <a:ext cx="800100" cy="381000"/>
            </a:xfrm>
            <a:prstGeom prst="roundRect">
              <a:avLst>
                <a:gd name="adj" fmla="val 10000"/>
              </a:avLst>
            </a:prstGeom>
            <a:solidFill>
              <a:srgbClr val="E6F1F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724400" y="2247900"/>
              <a:ext cx="2266950" cy="381000"/>
            </a:xfrm>
            <a:prstGeom prst="roundRect">
              <a:avLst>
                <a:gd name="adj" fmla="val 10000"/>
              </a:avLst>
            </a:prstGeom>
            <a:solidFill>
              <a:srgbClr val="E6F1F5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105650" y="2247900"/>
              <a:ext cx="895350" cy="381000"/>
            </a:xfrm>
            <a:prstGeom prst="roundRect">
              <a:avLst>
                <a:gd name="adj" fmla="val 10000"/>
              </a:avLst>
            </a:prstGeom>
            <a:solidFill>
              <a:srgbClr val="E6F1F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8115300" y="2247900"/>
              <a:ext cx="990600" cy="381000"/>
            </a:xfrm>
            <a:prstGeom prst="roundRect">
              <a:avLst>
                <a:gd name="adj" fmla="val 10000"/>
              </a:avLst>
            </a:prstGeom>
            <a:solidFill>
              <a:srgbClr val="E6F1F5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3920140" y="2349818"/>
              <a:ext cx="5044500" cy="264033"/>
              <a:chOff x="3920140" y="2349818"/>
              <a:chExt cx="5044500" cy="264033"/>
            </a:xfrm>
          </p:grpSpPr>
          <p:sp>
            <p:nvSpPr>
              <p:cNvPr id="20" name="TextBox 20"/>
              <p:cNvSpPr txBox="1"/>
              <p:nvPr/>
            </p:nvSpPr>
            <p:spPr>
              <a:xfrm>
                <a:off x="3920140" y="2349818"/>
                <a:ext cx="5798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0B2A3C"/>
                    </a:solidFill>
                    <a:latin typeface="+mn-lt"/>
                    <a:ea typeface="+mn-ea"/>
                    <a:cs typeface="+mn-cs"/>
                  </a:rPr>
                  <a:t>CMake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4814277" y="2349818"/>
                <a:ext cx="208719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350" dirty="0">
                    <a:solidFill>
                      <a:srgbClr val="0B2A3C"/>
                    </a:solidFill>
                    <a:latin typeface="+mn-lt"/>
                    <a:ea typeface="+mn-ea"/>
                    <a:cs typeface="+mn-cs"/>
                  </a:rPr>
                  <a:t>GNU Armツールチェーン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262062" y="2349818"/>
                <a:ext cx="58252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0B2A3C"/>
                    </a:solidFill>
                    <a:latin typeface="+mn-lt"/>
                    <a:ea typeface="+mn-ea"/>
                    <a:cs typeface="+mn-cs"/>
                  </a:rPr>
                  <a:t>Python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256561" y="2349818"/>
                <a:ext cx="70807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0B2A3C"/>
                    </a:solidFill>
                    <a:latin typeface="+mn-lt"/>
                    <a:ea typeface="+mn-ea"/>
                    <a:cs typeface="+mn-cs"/>
                  </a:rPr>
                  <a:t>minicom</a:t>
                </a:r>
              </a:p>
            </p:txBody>
          </p:sp>
        </p:grpSp>
      </p:grpSp>
      <p:grpSp>
        <p:nvGrpSpPr>
          <p:cNvPr id="38" name="req-st"/>
          <p:cNvGrpSpPr/>
          <p:nvPr/>
        </p:nvGrpSpPr>
        <p:grpSpPr>
          <a:xfrm>
            <a:off x="525780" y="2819400"/>
            <a:ext cx="11132820" cy="771525"/>
            <a:chOff x="525780" y="2819400"/>
            <a:chExt cx="11132820" cy="771525"/>
          </a:xfrm>
        </p:grpSpPr>
        <p:sp>
          <p:nvSpPr>
            <p:cNvPr id="26" name="Line 26"/>
            <p:cNvSpPr/>
            <p:nvPr/>
          </p:nvSpPr>
          <p:spPr>
            <a:xfrm>
              <a:off x="533400" y="28194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9E2EC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5780" y="3105150"/>
              <a:ext cx="26829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STの無償ツール（別途入手）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810000" y="3009900"/>
              <a:ext cx="1733550" cy="381000"/>
            </a:xfrm>
            <a:prstGeom prst="roundRect">
              <a:avLst>
                <a:gd name="adj" fmla="val 10000"/>
              </a:avLst>
            </a:prstGeom>
            <a:solidFill>
              <a:srgbClr val="E6F1F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657850" y="3009900"/>
              <a:ext cx="1352550" cy="381000"/>
            </a:xfrm>
            <a:prstGeom prst="roundRect">
              <a:avLst>
                <a:gd name="adj" fmla="val 10000"/>
              </a:avLst>
            </a:prstGeom>
            <a:solidFill>
              <a:srgbClr val="E6F1F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124700" y="3009900"/>
              <a:ext cx="1447800" cy="381000"/>
            </a:xfrm>
            <a:prstGeom prst="roundRect">
              <a:avLst>
                <a:gd name="adj" fmla="val 10000"/>
              </a:avLst>
            </a:prstGeom>
            <a:solidFill>
              <a:srgbClr val="E6F1F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686800" y="3009900"/>
              <a:ext cx="2114550" cy="381000"/>
            </a:xfrm>
            <a:prstGeom prst="roundRect">
              <a:avLst>
                <a:gd name="adj" fmla="val 10000"/>
              </a:avLst>
            </a:prstGeom>
            <a:solidFill>
              <a:srgbClr val="E6F1F5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3889737" y="3111818"/>
              <a:ext cx="6864420" cy="264033"/>
              <a:chOff x="3889737" y="3111818"/>
              <a:chExt cx="6864420" cy="264033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3889737" y="3111818"/>
                <a:ext cx="157407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0B2A3C"/>
                    </a:solidFill>
                    <a:latin typeface="+mn-lt"/>
                    <a:ea typeface="+mn-ea"/>
                    <a:cs typeface="+mn-cs"/>
                  </a:rPr>
                  <a:t>STM32CubeMX 6.x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5704973" y="3111818"/>
                <a:ext cx="12583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0B2A3C"/>
                    </a:solidFill>
                    <a:latin typeface="+mn-lt"/>
                    <a:ea typeface="+mn-ea"/>
                    <a:cs typeface="+mn-cs"/>
                  </a:rPr>
                  <a:t>STM32CubeN6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301535" y="3111818"/>
                <a:ext cx="109413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0B2A3C"/>
                    </a:solidFill>
                    <a:latin typeface="+mn-lt"/>
                    <a:ea typeface="+mn-ea"/>
                    <a:cs typeface="+mn-cs"/>
                  </a:rPr>
                  <a:t>STEdgeAI 4.0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733993" y="3111818"/>
                <a:ext cx="202016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0B2A3C"/>
                    </a:solidFill>
                    <a:latin typeface="+mn-lt"/>
                    <a:ea typeface="+mn-ea"/>
                    <a:cs typeface="+mn-cs"/>
                  </a:rPr>
                  <a:t>STM32CubeProgrammer</a:t>
                </a:r>
              </a:p>
            </p:txBody>
          </p:sp>
        </p:grpSp>
        <p:sp>
          <p:nvSpPr>
            <p:cNvPr id="37" name="Line 37"/>
            <p:cNvSpPr/>
            <p:nvPr/>
          </p:nvSpPr>
          <p:spPr>
            <a:xfrm>
              <a:off x="533400" y="35814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CCCDC"/>
              </a:solidFill>
            </a:ln>
          </p:spPr>
        </p:sp>
      </p:grpSp>
      <p:grpSp>
        <p:nvGrpSpPr>
          <p:cNvPr id="44" name="req-config"/>
          <p:cNvGrpSpPr/>
          <p:nvPr/>
        </p:nvGrpSpPr>
        <p:grpSpPr>
          <a:xfrm>
            <a:off x="525780" y="4114800"/>
            <a:ext cx="11132820" cy="579120"/>
            <a:chOff x="525780" y="4114800"/>
            <a:chExt cx="11132820" cy="579120"/>
          </a:xfrm>
        </p:grpSpPr>
        <p:sp>
          <p:nvSpPr>
            <p:cNvPr id="39" name="Line 39"/>
            <p:cNvSpPr/>
            <p:nvPr/>
          </p:nvSpPr>
          <p:spPr>
            <a:xfrm>
              <a:off x="533400" y="4114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CCCD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5780" y="4400550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ホストごとのパス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3810000" y="4305300"/>
              <a:ext cx="3562350" cy="381000"/>
            </a:xfrm>
            <a:prstGeom prst="roundRect">
              <a:avLst>
                <a:gd name="adj" fmla="val 10000"/>
              </a:avLst>
            </a:prstGeom>
            <a:solidFill>
              <a:srgbClr val="0B2A3C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935054" y="4407218"/>
              <a:ext cx="33122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build-system/host-config/local.mk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17892" y="44072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rgbClr val="486581"/>
                  </a:solidFill>
                  <a:latin typeface="+mn-lt"/>
                  <a:ea typeface="+mn-ea"/>
                  <a:cs typeface="+mn-cs"/>
                </a:rPr>
                <a:t>に書くだけ</a:t>
              </a:r>
            </a:p>
          </p:txBody>
        </p:sp>
      </p:grpSp>
      <p:grpSp>
        <p:nvGrpSpPr>
          <p:cNvPr id="50" name="req-notices"/>
          <p:cNvGrpSpPr/>
          <p:nvPr/>
        </p:nvGrpSpPr>
        <p:grpSpPr>
          <a:xfrm>
            <a:off x="525780" y="4876800"/>
            <a:ext cx="11132820" cy="771525"/>
            <a:chOff x="525780" y="4876800"/>
            <a:chExt cx="11132820" cy="771525"/>
          </a:xfrm>
        </p:grpSpPr>
        <p:sp>
          <p:nvSpPr>
            <p:cNvPr id="45" name="Line 45"/>
            <p:cNvSpPr/>
            <p:nvPr/>
          </p:nvSpPr>
          <p:spPr>
            <a:xfrm>
              <a:off x="533400" y="4876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9E2E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5780" y="516255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利用している既存ソフトウェアの一覧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810000" y="5067300"/>
              <a:ext cx="2209800" cy="381000"/>
            </a:xfrm>
            <a:prstGeom prst="roundRect">
              <a:avLst>
                <a:gd name="adj" fmla="val 10000"/>
              </a:avLst>
            </a:prstGeom>
            <a:solidFill>
              <a:srgbClr val="0B2A3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752848" y="5169218"/>
              <a:ext cx="23241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THIRD_PARTY_NOTICES.md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533400" y="56388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CCCDC"/>
              </a:solidFill>
            </a:ln>
          </p:spPr>
        </p:sp>
      </p:grpSp>
      <p:grpSp>
        <p:nvGrpSpPr>
          <p:cNvPr id="53" name="footer"/>
          <p:cNvGrpSpPr/>
          <p:nvPr/>
        </p:nvGrpSpPr>
        <p:grpSpPr>
          <a:xfrm>
            <a:off x="528066" y="6535102"/>
            <a:ext cx="11135868" cy="205359"/>
            <a:chOff x="528066" y="6535102"/>
            <a:chExt cx="11135868" cy="205359"/>
          </a:xfrm>
        </p:grpSpPr>
        <p:sp>
          <p:nvSpPr>
            <p:cNvPr id="51" name="TextBox 51"/>
            <p:cNvSpPr txBox="1"/>
            <p:nvPr/>
          </p:nvSpPr>
          <p:spPr>
            <a:xfrm>
              <a:off x="528066" y="6535102"/>
              <a:ext cx="689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μAI-Studio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0861" y="6535102"/>
              <a:ext cx="16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33400" y="533400"/>
            <a:ext cx="1938909" cy="528257"/>
            <a:chOff x="533400" y="533400"/>
            <a:chExt cx="1938909" cy="528257"/>
          </a:xfrm>
        </p:grpSpPr>
        <p:sp>
          <p:nvSpPr>
            <p:cNvPr id="2" name="Rectangle 2"/>
            <p:cNvSpPr/>
            <p:nvPr/>
          </p:nvSpPr>
          <p:spPr>
            <a:xfrm>
              <a:off x="533400" y="533400"/>
              <a:ext cx="57150" cy="36195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996" y="5629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5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開発の流れ</a:t>
              </a:r>
            </a:p>
          </p:txBody>
        </p:sp>
      </p:grpSp>
      <p:grpSp>
        <p:nvGrpSpPr>
          <p:cNvPr id="48" name="command-list"/>
          <p:cNvGrpSpPr/>
          <p:nvPr/>
        </p:nvGrpSpPr>
        <p:grpSpPr>
          <a:xfrm>
            <a:off x="609600" y="1257300"/>
            <a:ext cx="11049000" cy="3219450"/>
            <a:chOff x="609600" y="1257300"/>
            <a:chExt cx="11049000" cy="3219450"/>
          </a:xfrm>
        </p:grpSpPr>
        <p:sp>
          <p:nvSpPr>
            <p:cNvPr id="5" name="Line 5"/>
            <p:cNvSpPr/>
            <p:nvPr/>
          </p:nvSpPr>
          <p:spPr>
            <a:xfrm>
              <a:off x="762000" y="1485900"/>
              <a:ext cx="9525" cy="2762250"/>
            </a:xfrm>
            <a:custGeom>
              <a:avLst/>
              <a:gdLst/>
              <a:ahLst/>
              <a:cxnLst/>
              <a:rect l="l" t="t" r="r" b="b"/>
              <a:pathLst>
                <a:path w="9525" h="2762250">
                  <a:moveTo>
                    <a:pt x="0" y="0"/>
                  </a:moveTo>
                  <a:lnTo>
                    <a:pt x="0" y="2762250"/>
                  </a:lnTo>
                </a:path>
              </a:pathLst>
            </a:custGeom>
            <a:noFill/>
            <a:ln w="19050">
              <a:solidFill>
                <a:srgbClr val="BCCCDC"/>
              </a:solidFill>
            </a:ln>
          </p:spPr>
        </p:sp>
        <p:grpSp>
          <p:nvGrpSpPr>
            <p:cNvPr id="12" name="cmd-setup"/>
            <p:cNvGrpSpPr/>
            <p:nvPr/>
          </p:nvGrpSpPr>
          <p:grpSpPr>
            <a:xfrm>
              <a:off x="609600" y="1257300"/>
              <a:ext cx="11049000" cy="457200"/>
              <a:chOff x="609600" y="1257300"/>
              <a:chExt cx="11049000" cy="45720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609600" y="1333500"/>
                <a:ext cx="304800" cy="304800"/>
              </a:xfrm>
              <a:prstGeom prst="ellipse">
                <a:avLst/>
              </a:prstGeom>
              <a:solidFill>
                <a:srgbClr val="0B6E8E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709444" y="1413510"/>
                <a:ext cx="1051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8" name="Rectangle 8"/>
              <p:cNvSpPr/>
              <p:nvPr/>
            </p:nvSpPr>
            <p:spPr>
              <a:xfrm>
                <a:off x="1066800" y="1257300"/>
                <a:ext cx="4286250" cy="457200"/>
              </a:xfrm>
              <a:prstGeom prst="rect">
                <a:avLst/>
              </a:prstGeom>
              <a:solidFill>
                <a:srgbClr val="0B2A3C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212723" y="1405414"/>
                <a:ext cx="286283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make -C userspace/ai-app setup</a:t>
                </a:r>
              </a:p>
            </p:txBody>
          </p:sp>
          <p:sp>
            <p:nvSpPr>
              <p:cNvPr id="10" name="Rectangle 10"/>
              <p:cNvSpPr/>
              <p:nvPr/>
            </p:nvSpPr>
            <p:spPr>
              <a:xfrm>
                <a:off x="5353050" y="1257300"/>
                <a:ext cx="6305550" cy="457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5537073" y="1405414"/>
                <a:ext cx="451271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8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モデル取得、NPUコード生成、CubeMX生成、CMake構成</a:t>
                </a:r>
              </a:p>
            </p:txBody>
          </p:sp>
        </p:grpSp>
        <p:grpSp>
          <p:nvGrpSpPr>
            <p:cNvPr id="19" name="cmd-monitor"/>
            <p:cNvGrpSpPr/>
            <p:nvPr/>
          </p:nvGrpSpPr>
          <p:grpSpPr>
            <a:xfrm>
              <a:off x="609600" y="1809750"/>
              <a:ext cx="11049000" cy="457200"/>
              <a:chOff x="609600" y="1809750"/>
              <a:chExt cx="11049000" cy="457200"/>
            </a:xfrm>
          </p:grpSpPr>
          <p:sp>
            <p:nvSpPr>
              <p:cNvPr id="13" name="Ellipse 13"/>
              <p:cNvSpPr/>
              <p:nvPr/>
            </p:nvSpPr>
            <p:spPr>
              <a:xfrm>
                <a:off x="609600" y="1885950"/>
                <a:ext cx="304800" cy="304800"/>
              </a:xfrm>
              <a:prstGeom prst="ellipse">
                <a:avLst/>
              </a:prstGeom>
              <a:solidFill>
                <a:srgbClr val="0B6E8E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09444" y="1965960"/>
                <a:ext cx="1051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1066800" y="1809750"/>
                <a:ext cx="4286250" cy="457200"/>
              </a:xfrm>
              <a:prstGeom prst="rect">
                <a:avLst/>
              </a:prstGeom>
              <a:solidFill>
                <a:srgbClr val="0B2A3C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12723" y="1957864"/>
                <a:ext cx="30522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make -C userspace/ai-app monitor</a:t>
                </a: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5353050" y="1809750"/>
                <a:ext cx="6305550" cy="457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5537073" y="1957864"/>
                <a:ext cx="269982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8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UART監視（別端末で開いておく）</a:t>
                </a:r>
              </a:p>
            </p:txBody>
          </p:sp>
        </p:grpSp>
        <p:grpSp>
          <p:nvGrpSpPr>
            <p:cNvPr id="26" name="cmd-ai-load"/>
            <p:cNvGrpSpPr/>
            <p:nvPr/>
          </p:nvGrpSpPr>
          <p:grpSpPr>
            <a:xfrm>
              <a:off x="609600" y="2362200"/>
              <a:ext cx="11049000" cy="457200"/>
              <a:chOff x="609600" y="2362200"/>
              <a:chExt cx="11049000" cy="457200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609600" y="2438400"/>
                <a:ext cx="304800" cy="304800"/>
              </a:xfrm>
              <a:prstGeom prst="ellipse">
                <a:avLst/>
              </a:prstGeom>
              <a:solidFill>
                <a:srgbClr val="0B6E8E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709444" y="2518410"/>
                <a:ext cx="1051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1066800" y="2362200"/>
                <a:ext cx="4286250" cy="457200"/>
              </a:xfrm>
              <a:prstGeom prst="rect">
                <a:avLst/>
              </a:prstGeom>
              <a:solidFill>
                <a:srgbClr val="0B2A3C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212723" y="2510314"/>
                <a:ext cx="305254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make -C userspace/ai-app ai-load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5353050" y="2362200"/>
                <a:ext cx="6305550" cy="457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537073" y="2510314"/>
                <a:ext cx="596699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8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モデルの重みとNPUコマンド（command blob）を外部NOR Flashへ書き込み</a:t>
                </a:r>
              </a:p>
            </p:txBody>
          </p:sp>
        </p:grpSp>
        <p:grpSp>
          <p:nvGrpSpPr>
            <p:cNvPr id="33" name="cmd-ram-run"/>
            <p:cNvGrpSpPr/>
            <p:nvPr/>
          </p:nvGrpSpPr>
          <p:grpSpPr>
            <a:xfrm>
              <a:off x="609600" y="2914650"/>
              <a:ext cx="11049000" cy="457200"/>
              <a:chOff x="609600" y="2914650"/>
              <a:chExt cx="11049000" cy="457200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609600" y="2990850"/>
                <a:ext cx="304800" cy="304800"/>
              </a:xfrm>
              <a:prstGeom prst="ellipse">
                <a:avLst/>
              </a:prstGeom>
              <a:solidFill>
                <a:srgbClr val="0B6E8E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09444" y="3070860"/>
                <a:ext cx="1051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29" name="Rectangle 29"/>
              <p:cNvSpPr/>
              <p:nvPr/>
            </p:nvSpPr>
            <p:spPr>
              <a:xfrm>
                <a:off x="1066800" y="2914650"/>
                <a:ext cx="4286250" cy="457200"/>
              </a:xfrm>
              <a:prstGeom prst="rect">
                <a:avLst/>
              </a:prstGeom>
              <a:solidFill>
                <a:srgbClr val="0B2A3C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1212723" y="3062764"/>
                <a:ext cx="305254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make -C userspace/ai-app ram-run</a:t>
                </a:r>
              </a:p>
            </p:txBody>
          </p:sp>
          <p:sp>
            <p:nvSpPr>
              <p:cNvPr id="31" name="Rectangle 31"/>
              <p:cNvSpPr/>
              <p:nvPr/>
            </p:nvSpPr>
            <p:spPr>
              <a:xfrm>
                <a:off x="5353050" y="2914650"/>
                <a:ext cx="6305550" cy="457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5537073" y="3062764"/>
                <a:ext cx="247054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8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ビルドしてRAMへ転送し、実行</a:t>
                </a:r>
              </a:p>
            </p:txBody>
          </p:sp>
        </p:grpSp>
        <p:grpSp>
          <p:nvGrpSpPr>
            <p:cNvPr id="40" name="cmd-thread-monitor"/>
            <p:cNvGrpSpPr/>
            <p:nvPr/>
          </p:nvGrpSpPr>
          <p:grpSpPr>
            <a:xfrm>
              <a:off x="609600" y="3467100"/>
              <a:ext cx="11049000" cy="457200"/>
              <a:chOff x="609600" y="3467100"/>
              <a:chExt cx="11049000" cy="457200"/>
            </a:xfrm>
          </p:grpSpPr>
          <p:sp>
            <p:nvSpPr>
              <p:cNvPr id="34" name="Ellipse 34"/>
              <p:cNvSpPr/>
              <p:nvPr/>
            </p:nvSpPr>
            <p:spPr>
              <a:xfrm>
                <a:off x="609600" y="3543300"/>
                <a:ext cx="304800" cy="304800"/>
              </a:xfrm>
              <a:prstGeom prst="ellipse">
                <a:avLst/>
              </a:prstGeom>
              <a:solidFill>
                <a:srgbClr val="0B6E8E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09444" y="3623310"/>
                <a:ext cx="1051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36" name="Rectangle 36"/>
              <p:cNvSpPr/>
              <p:nvPr/>
            </p:nvSpPr>
            <p:spPr>
              <a:xfrm>
                <a:off x="1066800" y="3467100"/>
                <a:ext cx="4286250" cy="457200"/>
              </a:xfrm>
              <a:prstGeom prst="rect">
                <a:avLst/>
              </a:prstGeom>
              <a:solidFill>
                <a:srgbClr val="0B2A3C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212723" y="3615214"/>
                <a:ext cx="371561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make -C userspace/ai-app thread-monitor</a:t>
                </a:r>
              </a:p>
            </p:txBody>
          </p:sp>
          <p:sp>
            <p:nvSpPr>
              <p:cNvPr id="38" name="Rectangle 38"/>
              <p:cNvSpPr/>
              <p:nvPr/>
            </p:nvSpPr>
            <p:spPr>
              <a:xfrm>
                <a:off x="5353050" y="3467100"/>
                <a:ext cx="6305550" cy="457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5537073" y="3615214"/>
                <a:ext cx="463974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8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AI model monitor：モデルごとの実行記録を取得して可視化</a:t>
                </a:r>
              </a:p>
            </p:txBody>
          </p:sp>
        </p:grpSp>
        <p:grpSp>
          <p:nvGrpSpPr>
            <p:cNvPr id="47" name="cmd-cpu-task-monitor"/>
            <p:cNvGrpSpPr/>
            <p:nvPr/>
          </p:nvGrpSpPr>
          <p:grpSpPr>
            <a:xfrm>
              <a:off x="609600" y="4019550"/>
              <a:ext cx="11049000" cy="457200"/>
              <a:chOff x="609600" y="4019550"/>
              <a:chExt cx="11049000" cy="457200"/>
            </a:xfrm>
          </p:grpSpPr>
          <p:sp>
            <p:nvSpPr>
              <p:cNvPr id="41" name="Ellipse 41"/>
              <p:cNvSpPr/>
              <p:nvPr/>
            </p:nvSpPr>
            <p:spPr>
              <a:xfrm>
                <a:off x="609600" y="4095750"/>
                <a:ext cx="304800" cy="304800"/>
              </a:xfrm>
              <a:prstGeom prst="ellipse">
                <a:avLst/>
              </a:prstGeom>
              <a:solidFill>
                <a:srgbClr val="0B6E8E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709444" y="4175760"/>
                <a:ext cx="1051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1066800" y="4019550"/>
                <a:ext cx="4286250" cy="457200"/>
              </a:xfrm>
              <a:prstGeom prst="rect">
                <a:avLst/>
              </a:prstGeom>
              <a:solidFill>
                <a:srgbClr val="0B2A3C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212723" y="4167664"/>
                <a:ext cx="390529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make -C userspace/ai-app cpu-task-monitor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5353050" y="4019550"/>
                <a:ext cx="6305550" cy="4572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5537073" y="4167664"/>
                <a:ext cx="445455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8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CPU task monitor：タスク別CPU使用率を取得して可視化</a:t>
                </a:r>
              </a:p>
            </p:txBody>
          </p:sp>
        </p:grpSp>
      </p:grpSp>
      <p:grpSp>
        <p:nvGrpSpPr>
          <p:cNvPr id="59" name="dev-cycle"/>
          <p:cNvGrpSpPr/>
          <p:nvPr/>
        </p:nvGrpSpPr>
        <p:grpSpPr>
          <a:xfrm>
            <a:off x="533400" y="5029200"/>
            <a:ext cx="9594723" cy="533400"/>
            <a:chOff x="533400" y="5029200"/>
            <a:chExt cx="9594723" cy="533400"/>
          </a:xfrm>
        </p:grpSpPr>
        <p:sp>
          <p:nvSpPr>
            <p:cNvPr id="49" name="Freeform 49"/>
            <p:cNvSpPr/>
            <p:nvPr/>
          </p:nvSpPr>
          <p:spPr>
            <a:xfrm>
              <a:off x="533400" y="5029200"/>
              <a:ext cx="1619250" cy="533400"/>
            </a:xfrm>
            <a:prstGeom prst="chevron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50" name="Freeform 50"/>
            <p:cNvSpPr/>
            <p:nvPr/>
          </p:nvSpPr>
          <p:spPr>
            <a:xfrm>
              <a:off x="1962150" y="5029200"/>
              <a:ext cx="1619250" cy="533400"/>
            </a:xfrm>
            <a:prstGeom prst="chevron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51" name="Freeform 51"/>
            <p:cNvSpPr/>
            <p:nvPr/>
          </p:nvSpPr>
          <p:spPr>
            <a:xfrm>
              <a:off x="3390900" y="5029200"/>
              <a:ext cx="1619250" cy="533400"/>
            </a:xfrm>
            <a:prstGeom prst="chevron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52" name="Freeform 52"/>
            <p:cNvSpPr/>
            <p:nvPr/>
          </p:nvSpPr>
          <p:spPr>
            <a:xfrm>
              <a:off x="4819650" y="5029200"/>
              <a:ext cx="1619250" cy="533400"/>
            </a:xfrm>
            <a:prstGeom prst="chevron">
              <a:avLst/>
            </a:prstGeom>
            <a:solidFill>
              <a:srgbClr val="0B6E8E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1200150" y="5200650"/>
              <a:ext cx="4705350" cy="293370"/>
              <a:chOff x="1200150" y="5200650"/>
              <a:chExt cx="4705350" cy="293370"/>
            </a:xfrm>
          </p:grpSpPr>
          <p:sp>
            <p:nvSpPr>
              <p:cNvPr id="53" name="TextBox 53"/>
              <p:cNvSpPr txBox="1"/>
              <p:nvPr/>
            </p:nvSpPr>
            <p:spPr>
              <a:xfrm>
                <a:off x="1200150" y="5200650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作る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2527935" y="5200650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動かす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4057650" y="5200650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測る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5486400" y="5200650"/>
                <a:ext cx="4191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5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直す</a:t>
                </a:r>
              </a:p>
            </p:txBody>
          </p:sp>
        </p:grpSp>
        <p:sp>
          <p:nvSpPr>
            <p:cNvPr id="58" name="TextBox 58"/>
            <p:cNvSpPr txBox="1"/>
            <p:nvPr/>
          </p:nvSpPr>
          <p:spPr>
            <a:xfrm>
              <a:off x="6695694" y="5180648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9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を、すべてコマンドで回せる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066" y="6535102"/>
            <a:ext cx="11135868" cy="205359"/>
            <a:chOff x="528066" y="6535102"/>
            <a:chExt cx="11135868" cy="205359"/>
          </a:xfrm>
        </p:grpSpPr>
        <p:sp>
          <p:nvSpPr>
            <p:cNvPr id="60" name="TextBox 60"/>
            <p:cNvSpPr txBox="1"/>
            <p:nvPr/>
          </p:nvSpPr>
          <p:spPr>
            <a:xfrm>
              <a:off x="528066" y="6535102"/>
              <a:ext cx="689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μAI-Studio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0861" y="6535102"/>
              <a:ext cx="16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33400" y="533400"/>
            <a:ext cx="6436372" cy="528257"/>
            <a:chOff x="533400" y="533400"/>
            <a:chExt cx="6436372" cy="528257"/>
          </a:xfrm>
        </p:grpSpPr>
        <p:sp>
          <p:nvSpPr>
            <p:cNvPr id="2" name="Rectangle 2"/>
            <p:cNvSpPr/>
            <p:nvPr/>
          </p:nvSpPr>
          <p:spPr>
            <a:xfrm>
              <a:off x="533400" y="533400"/>
              <a:ext cx="57150" cy="361950"/>
            </a:xfrm>
            <a:prstGeom prst="rect">
              <a:avLst/>
            </a:prstGeom>
            <a:solidFill>
              <a:srgbClr val="829AB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996" y="562928"/>
              <a:ext cx="62397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5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課題1：開発環境がIDEとGUIに縛られる</a:t>
              </a:r>
            </a:p>
          </p:txBody>
        </p:sp>
      </p:grpSp>
      <p:grpSp>
        <p:nvGrpSpPr>
          <p:cNvPr id="12" name="pain-marker"/>
          <p:cNvGrpSpPr/>
          <p:nvPr/>
        </p:nvGrpSpPr>
        <p:grpSpPr>
          <a:xfrm>
            <a:off x="533400" y="1295400"/>
            <a:ext cx="2857500" cy="4572000"/>
            <a:chOff x="533400" y="1295400"/>
            <a:chExt cx="2857500" cy="4572000"/>
          </a:xfrm>
        </p:grpSpPr>
        <p:sp>
          <p:nvSpPr>
            <p:cNvPr id="5" name="Rectangle 5"/>
            <p:cNvSpPr/>
            <p:nvPr/>
          </p:nvSpPr>
          <p:spPr>
            <a:xfrm>
              <a:off x="533400" y="1295400"/>
              <a:ext cx="2857500" cy="4572000"/>
            </a:xfrm>
            <a:prstGeom prst="rect">
              <a:avLst/>
            </a:prstGeom>
            <a:solidFill>
              <a:srgbClr val="E4E9E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0580" y="17049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rgbClr val="627D98"/>
                  </a:solidFill>
                  <a:latin typeface="+mn-lt"/>
                  <a:ea typeface="+mn-ea"/>
                  <a:cs typeface="+mn-cs"/>
                </a:rPr>
                <a:t>課題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81050" y="2171700"/>
              <a:ext cx="1431902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9000" b="1" dirty="0">
                  <a:solidFill>
                    <a:srgbClr val="627D9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012825" y="4486275"/>
              <a:ext cx="488950" cy="628650"/>
              <a:chOff x="1012825" y="4486275"/>
              <a:chExt cx="488950" cy="62865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12825" y="4765675"/>
                <a:ext cx="488950" cy="349250"/>
              </a:xfrm>
              <a:custGeom>
                <a:avLst/>
                <a:gdLst/>
                <a:ahLst/>
                <a:cxnLst/>
                <a:rect l="l" t="t" r="r" b="b"/>
                <a:pathLst>
                  <a:path w="488950" h="349250">
                    <a:moveTo>
                      <a:pt x="0" y="69850"/>
                    </a:moveTo>
                    <a:cubicBezTo>
                      <a:pt x="0" y="31273"/>
                      <a:pt x="31273" y="0"/>
                      <a:pt x="69850" y="0"/>
                    </a:cubicBezTo>
                    <a:lnTo>
                      <a:pt x="419100" y="0"/>
                    </a:lnTo>
                    <a:cubicBezTo>
                      <a:pt x="457678" y="0"/>
                      <a:pt x="488950" y="31273"/>
                      <a:pt x="488950" y="69850"/>
                    </a:cubicBezTo>
                    <a:lnTo>
                      <a:pt x="488950" y="279400"/>
                    </a:lnTo>
                    <a:cubicBezTo>
                      <a:pt x="488950" y="317977"/>
                      <a:pt x="457678" y="349250"/>
                      <a:pt x="419100" y="349250"/>
                    </a:cubicBezTo>
                    <a:lnTo>
                      <a:pt x="69850" y="349250"/>
                    </a:lnTo>
                    <a:cubicBezTo>
                      <a:pt x="31273" y="349250"/>
                      <a:pt x="0" y="317977"/>
                      <a:pt x="0" y="279400"/>
                    </a:cubicBezTo>
                    <a:lnTo>
                      <a:pt x="0" y="69850"/>
                    </a:lnTo>
                  </a:path>
                </a:pathLst>
              </a:custGeom>
              <a:noFill/>
              <a:ln w="52388">
                <a:solidFill>
                  <a:srgbClr val="627D98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222375" y="4905375"/>
                <a:ext cx="69850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69850">
                    <a:moveTo>
                      <a:pt x="0" y="34925"/>
                    </a:moveTo>
                    <a:cubicBezTo>
                      <a:pt x="0" y="54214"/>
                      <a:pt x="15636" y="69850"/>
                      <a:pt x="34925" y="69850"/>
                    </a:cubicBezTo>
                    <a:cubicBezTo>
                      <a:pt x="54214" y="69850"/>
                      <a:pt x="69850" y="54214"/>
                      <a:pt x="69850" y="34925"/>
                    </a:cubicBezTo>
                    <a:cubicBezTo>
                      <a:pt x="69850" y="15636"/>
                      <a:pt x="54214" y="0"/>
                      <a:pt x="34925" y="0"/>
                    </a:cubicBezTo>
                    <a:cubicBezTo>
                      <a:pt x="15636" y="0"/>
                      <a:pt x="0" y="15636"/>
                      <a:pt x="0" y="34925"/>
                    </a:cubicBezTo>
                  </a:path>
                </a:pathLst>
              </a:custGeom>
              <a:noFill/>
              <a:ln w="52388">
                <a:solidFill>
                  <a:srgbClr val="627D98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117600" y="4486275"/>
                <a:ext cx="27940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279400" h="279400">
                    <a:moveTo>
                      <a:pt x="0" y="279400"/>
                    </a:moveTo>
                    <a:lnTo>
                      <a:pt x="0" y="139700"/>
                    </a:lnTo>
                    <a:cubicBezTo>
                      <a:pt x="0" y="62546"/>
                      <a:pt x="62546" y="0"/>
                      <a:pt x="139700" y="0"/>
                    </a:cubicBezTo>
                    <a:cubicBezTo>
                      <a:pt x="216854" y="0"/>
                      <a:pt x="279400" y="62546"/>
                      <a:pt x="279400" y="139700"/>
                    </a:cubicBezTo>
                    <a:lnTo>
                      <a:pt x="279400" y="279400"/>
                    </a:lnTo>
                  </a:path>
                </a:pathLst>
              </a:custGeom>
              <a:noFill/>
              <a:ln w="52388">
                <a:solidFill>
                  <a:srgbClr val="627D98"/>
                </a:solidFill>
              </a:ln>
            </p:spPr>
          </p:sp>
        </p:grpSp>
      </p:grpSp>
      <p:grpSp>
        <p:nvGrpSpPr>
          <p:cNvPr id="27" name="pain-points"/>
          <p:cNvGrpSpPr/>
          <p:nvPr/>
        </p:nvGrpSpPr>
        <p:grpSpPr>
          <a:xfrm>
            <a:off x="3810000" y="1755458"/>
            <a:ext cx="7848600" cy="3751707"/>
            <a:chOff x="3810000" y="1755458"/>
            <a:chExt cx="7848600" cy="3751707"/>
          </a:xfrm>
        </p:grpSpPr>
        <p:grpSp>
          <p:nvGrpSpPr>
            <p:cNvPr id="16" name="Group 16"/>
            <p:cNvGrpSpPr/>
            <p:nvPr/>
          </p:nvGrpSpPr>
          <p:grpSpPr>
            <a:xfrm>
              <a:off x="3810000" y="2438400"/>
              <a:ext cx="7848600" cy="2295525"/>
              <a:chOff x="3810000" y="2438400"/>
              <a:chExt cx="7848600" cy="2295525"/>
            </a:xfrm>
          </p:grpSpPr>
          <p:sp>
            <p:nvSpPr>
              <p:cNvPr id="13" name="Line 13"/>
              <p:cNvSpPr/>
              <p:nvPr/>
            </p:nvSpPr>
            <p:spPr>
              <a:xfrm>
                <a:off x="3810000" y="2438400"/>
                <a:ext cx="784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848600" h="9525">
                    <a:moveTo>
                      <a:pt x="0" y="0"/>
                    </a:moveTo>
                    <a:lnTo>
                      <a:pt x="7848600" y="0"/>
                    </a:lnTo>
                  </a:path>
                </a:pathLst>
              </a:custGeom>
              <a:noFill/>
              <a:ln w="9525">
                <a:solidFill>
                  <a:srgbClr val="D9E2EC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3810000" y="3581400"/>
                <a:ext cx="784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848600" h="9525">
                    <a:moveTo>
                      <a:pt x="0" y="0"/>
                    </a:moveTo>
                    <a:lnTo>
                      <a:pt x="7848600" y="0"/>
                    </a:lnTo>
                  </a:path>
                </a:pathLst>
              </a:custGeom>
              <a:noFill/>
              <a:ln w="9525">
                <a:solidFill>
                  <a:srgbClr val="D9E2EC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3810000" y="4724400"/>
                <a:ext cx="784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848600" h="9525">
                    <a:moveTo>
                      <a:pt x="0" y="0"/>
                    </a:moveTo>
                    <a:lnTo>
                      <a:pt x="7848600" y="0"/>
                    </a:lnTo>
                  </a:path>
                </a:pathLst>
              </a:custGeom>
              <a:noFill/>
              <a:ln w="9525">
                <a:solidFill>
                  <a:srgbClr val="D9E2EC"/>
                </a:solidFill>
              </a:ln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3810000" y="1809750"/>
              <a:ext cx="95250" cy="3524250"/>
              <a:chOff x="3810000" y="1809750"/>
              <a:chExt cx="95250" cy="35242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3810000" y="1809750"/>
                <a:ext cx="95250" cy="95250"/>
              </a:xfrm>
              <a:prstGeom prst="rect">
                <a:avLst/>
              </a:prstGeom>
              <a:solidFill>
                <a:srgbClr val="627D98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3810000" y="2952750"/>
                <a:ext cx="95250" cy="95250"/>
              </a:xfrm>
              <a:prstGeom prst="rect">
                <a:avLst/>
              </a:prstGeom>
              <a:solidFill>
                <a:srgbClr val="627D98"/>
              </a:solidFill>
              <a:ln>
                <a:noFill/>
              </a:ln>
            </p:spPr>
          </p:sp>
          <p:sp>
            <p:nvSpPr>
              <p:cNvPr id="19" name="Rectangle 19"/>
              <p:cNvSpPr/>
              <p:nvPr/>
            </p:nvSpPr>
            <p:spPr>
              <a:xfrm>
                <a:off x="3810000" y="4095750"/>
                <a:ext cx="95250" cy="95250"/>
              </a:xfrm>
              <a:prstGeom prst="rect">
                <a:avLst/>
              </a:prstGeom>
              <a:solidFill>
                <a:srgbClr val="627D98"/>
              </a:solidFill>
              <a:ln>
                <a:noFill/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3810000" y="5238750"/>
                <a:ext cx="95250" cy="95250"/>
              </a:xfrm>
              <a:prstGeom prst="rect">
                <a:avLst/>
              </a:prstGeom>
              <a:solidFill>
                <a:srgbClr val="627D98"/>
              </a:solidFill>
              <a:ln>
                <a:noFill/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4068318" y="1755458"/>
              <a:ext cx="7026208" cy="3751707"/>
              <a:chOff x="4068318" y="1755458"/>
              <a:chExt cx="7026208" cy="3751707"/>
            </a:xfrm>
          </p:grpSpPr>
          <p:sp>
            <p:nvSpPr>
              <p:cNvPr id="22" name="TextBox 22"/>
              <p:cNvSpPr txBox="1"/>
              <p:nvPr/>
            </p:nvSpPr>
            <p:spPr>
              <a:xfrm>
                <a:off x="4068318" y="1755458"/>
                <a:ext cx="652240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65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マイコン開発は、ベンダーIDEとGUI操作を前提にしたものが多い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068318" y="2898458"/>
                <a:ext cx="702620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65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ビルド、書き込み、ログ確認がIDEの中に閉じていて、自動化しにくい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068318" y="4041458"/>
                <a:ext cx="643566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65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AIコーディングエージェントやCIから、同じ手順を再現できない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4068318" y="5184458"/>
                <a:ext cx="401497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65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使い慣れたエディタやツールを選べない</a:t>
                </a:r>
              </a:p>
            </p:txBody>
          </p:sp>
        </p:grpSp>
      </p:grpSp>
      <p:grpSp>
        <p:nvGrpSpPr>
          <p:cNvPr id="30" name="footer"/>
          <p:cNvGrpSpPr/>
          <p:nvPr/>
        </p:nvGrpSpPr>
        <p:grpSpPr>
          <a:xfrm>
            <a:off x="528066" y="6535102"/>
            <a:ext cx="11135868" cy="205359"/>
            <a:chOff x="528066" y="6535102"/>
            <a:chExt cx="111358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528066" y="6535102"/>
              <a:ext cx="689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μAI-Studio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500861" y="6535102"/>
              <a:ext cx="16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33400" y="533400"/>
            <a:ext cx="7946056" cy="528257"/>
            <a:chOff x="533400" y="533400"/>
            <a:chExt cx="7946056" cy="528257"/>
          </a:xfrm>
        </p:grpSpPr>
        <p:sp>
          <p:nvSpPr>
            <p:cNvPr id="2" name="Rectangle 2"/>
            <p:cNvSpPr/>
            <p:nvPr/>
          </p:nvSpPr>
          <p:spPr>
            <a:xfrm>
              <a:off x="533400" y="533400"/>
              <a:ext cx="57150" cy="36195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996" y="562928"/>
              <a:ext cx="77494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5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解決1：CMakeとMakeで開発フローをコマンド化</a:t>
              </a:r>
            </a:p>
          </p:txBody>
        </p:sp>
      </p:grpSp>
      <p:grpSp>
        <p:nvGrpSpPr>
          <p:cNvPr id="21" name="build-points"/>
          <p:cNvGrpSpPr/>
          <p:nvPr/>
        </p:nvGrpSpPr>
        <p:grpSpPr>
          <a:xfrm>
            <a:off x="533400" y="1552575"/>
            <a:ext cx="5372100" cy="2979420"/>
            <a:chOff x="533400" y="1552575"/>
            <a:chExt cx="5372100" cy="2979420"/>
          </a:xfrm>
        </p:grpSpPr>
        <p:grpSp>
          <p:nvGrpSpPr>
            <p:cNvPr id="7" name="Group 7"/>
            <p:cNvGrpSpPr/>
            <p:nvPr/>
          </p:nvGrpSpPr>
          <p:grpSpPr>
            <a:xfrm>
              <a:off x="533400" y="2305050"/>
              <a:ext cx="5372100" cy="1362075"/>
              <a:chOff x="533400" y="2305050"/>
              <a:chExt cx="5372100" cy="1362075"/>
            </a:xfrm>
          </p:grpSpPr>
          <p:sp>
            <p:nvSpPr>
              <p:cNvPr id="5" name="Line 5"/>
              <p:cNvSpPr/>
              <p:nvPr/>
            </p:nvSpPr>
            <p:spPr>
              <a:xfrm>
                <a:off x="533400" y="2305050"/>
                <a:ext cx="5372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72100" h="9525">
                    <a:moveTo>
                      <a:pt x="0" y="0"/>
                    </a:moveTo>
                    <a:lnTo>
                      <a:pt x="5372100" y="0"/>
                    </a:lnTo>
                  </a:path>
                </a:pathLst>
              </a:custGeom>
              <a:noFill/>
              <a:ln w="9525">
                <a:solidFill>
                  <a:srgbClr val="D9E2EC"/>
                </a:solidFill>
              </a:ln>
            </p:spPr>
          </p:sp>
          <p:sp>
            <p:nvSpPr>
              <p:cNvPr id="6" name="Line 6"/>
              <p:cNvSpPr/>
              <p:nvPr/>
            </p:nvSpPr>
            <p:spPr>
              <a:xfrm>
                <a:off x="533400" y="3657600"/>
                <a:ext cx="5372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72100" h="9525">
                    <a:moveTo>
                      <a:pt x="0" y="0"/>
                    </a:moveTo>
                    <a:lnTo>
                      <a:pt x="5372100" y="0"/>
                    </a:lnTo>
                  </a:path>
                </a:pathLst>
              </a:custGeom>
              <a:noFill/>
              <a:ln w="9525">
                <a:solidFill>
                  <a:srgbClr val="D9E2EC"/>
                </a:solidFill>
              </a:ln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533400" y="1581150"/>
              <a:ext cx="95250" cy="2400300"/>
              <a:chOff x="533400" y="1581150"/>
              <a:chExt cx="95250" cy="24003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33400" y="1581150"/>
                <a:ext cx="95250" cy="95250"/>
              </a:xfrm>
              <a:prstGeom prst="rect">
                <a:avLst/>
              </a:prstGeom>
              <a:solidFill>
                <a:srgbClr val="0B6E8E"/>
              </a:solidFill>
              <a:ln>
                <a:noFill/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533400" y="2600325"/>
                <a:ext cx="95250" cy="95250"/>
              </a:xfrm>
              <a:prstGeom prst="rect">
                <a:avLst/>
              </a:prstGeom>
              <a:solidFill>
                <a:srgbClr val="0B6E8E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533400" y="3886200"/>
                <a:ext cx="95250" cy="95250"/>
              </a:xfrm>
              <a:prstGeom prst="rect">
                <a:avLst/>
              </a:prstGeom>
              <a:solidFill>
                <a:srgbClr val="0B6E8E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792480" y="1552575"/>
              <a:ext cx="3982326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μT-Kernel 3.0本体、ドライバ、ミドルウェア、</a:t>
              </a:r>
              <a:br/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アプリをCMakeで</a:t>
              </a:r>
              <a:r>
                <a:rPr lang="ja-JP" sz="1500" b="1" dirty="0">
                  <a:solidFill>
                    <a:srgbClr val="0B6E8E"/>
                  </a:solidFill>
                  <a:latin typeface="+mn-lt"/>
                  <a:ea typeface="+mn-ea"/>
                  <a:cs typeface="+mn-cs"/>
                </a:rPr>
                <a:t>一括ビルド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00100" y="2495550"/>
              <a:ext cx="2038350" cy="323850"/>
            </a:xfrm>
            <a:prstGeom prst="roundRect">
              <a:avLst>
                <a:gd name="adj" fmla="val 11765"/>
              </a:avLst>
            </a:prstGeom>
            <a:solidFill>
              <a:srgbClr val="0B2A3C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823" y="2576989"/>
              <a:ext cx="20031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compile_commands.json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07030" y="25622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を出力し、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92480" y="2924175"/>
              <a:ext cx="3162033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clangdなどLSPに対応したエディタで</a:t>
              </a:r>
              <a:br/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コード補完が効く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2480" y="38576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ホストごとの設定は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0100" y="4171950"/>
              <a:ext cx="3295650" cy="323850"/>
            </a:xfrm>
            <a:prstGeom prst="roundRect">
              <a:avLst>
                <a:gd name="adj" fmla="val 11765"/>
              </a:avLst>
            </a:prstGeom>
            <a:solidFill>
              <a:srgbClr val="0B2A3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69823" y="4253389"/>
              <a:ext cx="31404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build-system/host-config/local.mk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64330" y="4238625"/>
              <a:ext cx="1739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の1ファイルに集約</a:t>
              </a:r>
            </a:p>
          </p:txBody>
        </p:sp>
      </p:grpSp>
      <p:grpSp>
        <p:nvGrpSpPr>
          <p:cNvPr id="39" name="agent-panel"/>
          <p:cNvGrpSpPr/>
          <p:nvPr/>
        </p:nvGrpSpPr>
        <p:grpSpPr>
          <a:xfrm>
            <a:off x="6210300" y="1295400"/>
            <a:ext cx="5448300" cy="4572000"/>
            <a:chOff x="6210300" y="1295400"/>
            <a:chExt cx="5448300" cy="4572000"/>
          </a:xfrm>
        </p:grpSpPr>
        <p:sp>
          <p:nvSpPr>
            <p:cNvPr id="22" name="Rectangle 22"/>
            <p:cNvSpPr/>
            <p:nvPr/>
          </p:nvSpPr>
          <p:spPr>
            <a:xfrm>
              <a:off x="6210300" y="1295400"/>
              <a:ext cx="5448300" cy="4572000"/>
            </a:xfrm>
            <a:prstGeom prst="rect">
              <a:avLst/>
            </a:prstGeom>
            <a:solidFill>
              <a:srgbClr val="E6F1F5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556375" y="1555750"/>
              <a:ext cx="222250" cy="301625"/>
              <a:chOff x="6556375" y="1555750"/>
              <a:chExt cx="222250" cy="3016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6572250" y="1587500"/>
                <a:ext cx="190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2700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58750" y="0"/>
                    </a:lnTo>
                    <a:cubicBezTo>
                      <a:pt x="176285" y="0"/>
                      <a:pt x="190500" y="14215"/>
                      <a:pt x="190500" y="31750"/>
                    </a:cubicBezTo>
                    <a:lnTo>
                      <a:pt x="190500" y="95250"/>
                    </a:lnTo>
                    <a:cubicBezTo>
                      <a:pt x="190500" y="112785"/>
                      <a:pt x="176285" y="127000"/>
                      <a:pt x="158750" y="127000"/>
                    </a:cubicBezTo>
                    <a:lnTo>
                      <a:pt x="31750" y="127000"/>
                    </a:lnTo>
                    <a:cubicBezTo>
                      <a:pt x="14215" y="127000"/>
                      <a:pt x="0" y="112785"/>
                      <a:pt x="0" y="952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667500" y="155575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619875" y="171450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715125" y="171450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556375" y="1746250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31750"/>
                    </a:move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715125" y="1746250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0"/>
                    </a:moveTo>
                    <a:lnTo>
                      <a:pt x="63500" y="3175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619875" y="1809751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635750" y="1651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6699250" y="16510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6963918" y="1631632"/>
              <a:ext cx="35879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rgbClr val="0B6E8E"/>
                  </a:solidFill>
                  <a:latin typeface="+mn-lt"/>
                  <a:ea typeface="+mn-ea"/>
                  <a:cs typeface="+mn-cs"/>
                </a:rPr>
                <a:t>AIエージェントが開発に参加できる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9380" y="2162175"/>
              <a:ext cx="4074224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すべての操作がコマンドなので、AGENTS.mdに</a:t>
              </a:r>
              <a:br/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対応したエージェント（GitHub Copilot、</a:t>
              </a:r>
              <a:br/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Codexなど）がビルド、書き込み、UARTでの</a:t>
              </a:r>
              <a:br/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起動確認まで</a:t>
              </a:r>
              <a:r>
                <a:rPr lang="ja-JP" sz="1500" b="1" dirty="0">
                  <a:solidFill>
                    <a:srgbClr val="0B6E8E"/>
                  </a:solidFill>
                  <a:latin typeface="+mn-lt"/>
                  <a:ea typeface="+mn-ea"/>
                  <a:cs typeface="+mn-cs"/>
                </a:rPr>
                <a:t>自分で進められる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69380" y="3590925"/>
              <a:ext cx="3774548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AGENTS.mdには、使うMakeターゲットと、</a:t>
              </a:r>
              <a:br/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成功を示すUARTログを書き、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77000" y="4210050"/>
              <a:ext cx="4914900" cy="381000"/>
            </a:xfrm>
            <a:prstGeom prst="roundRect">
              <a:avLst>
                <a:gd name="adj" fmla="val 10000"/>
              </a:avLst>
            </a:prstGeom>
            <a:solidFill>
              <a:srgbClr val="0B2A3C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622923" y="4320064"/>
              <a:ext cx="33299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camera: pipe1=started pipe2=started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69380" y="4772025"/>
              <a:ext cx="3825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「実機に書き込み、起動を確認するまで」を</a:t>
              </a:r>
              <a:br/>
              <a:r>
                <a:rPr lang="ja-JP" sz="1500" b="1" dirty="0">
                  <a:solidFill>
                    <a:srgbClr val="0B6E8E"/>
                  </a:solidFill>
                  <a:latin typeface="+mn-lt"/>
                  <a:ea typeface="+mn-ea"/>
                  <a:cs typeface="+mn-cs"/>
                </a:rPr>
                <a:t>作業の完了条件</a:t>
              </a:r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にしている</a:t>
              </a:r>
            </a:p>
          </p:txBody>
        </p:sp>
      </p:grpSp>
      <p:grpSp>
        <p:nvGrpSpPr>
          <p:cNvPr id="42" name="footer"/>
          <p:cNvGrpSpPr/>
          <p:nvPr/>
        </p:nvGrpSpPr>
        <p:grpSpPr>
          <a:xfrm>
            <a:off x="528066" y="6535102"/>
            <a:ext cx="11135868" cy="205359"/>
            <a:chOff x="528066" y="6535102"/>
            <a:chExt cx="11135868" cy="205359"/>
          </a:xfrm>
        </p:grpSpPr>
        <p:sp>
          <p:nvSpPr>
            <p:cNvPr id="40" name="TextBox 40"/>
            <p:cNvSpPr txBox="1"/>
            <p:nvPr/>
          </p:nvSpPr>
          <p:spPr>
            <a:xfrm>
              <a:off x="528066" y="6535102"/>
              <a:ext cx="689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μAI-Studio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500861" y="6535102"/>
              <a:ext cx="16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33400" y="533400"/>
            <a:ext cx="3998595" cy="528257"/>
            <a:chOff x="533400" y="533400"/>
            <a:chExt cx="3998595" cy="528257"/>
          </a:xfrm>
        </p:grpSpPr>
        <p:sp>
          <p:nvSpPr>
            <p:cNvPr id="2" name="Rectangle 2"/>
            <p:cNvSpPr/>
            <p:nvPr/>
          </p:nvSpPr>
          <p:spPr>
            <a:xfrm>
              <a:off x="533400" y="533400"/>
              <a:ext cx="57150" cy="36195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996" y="5629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5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自分のアプリを追加する</a:t>
              </a:r>
            </a:p>
          </p:txBody>
        </p:sp>
      </p:grpSp>
      <p:grpSp>
        <p:nvGrpSpPr>
          <p:cNvPr id="18" name="lead"/>
          <p:cNvGrpSpPr/>
          <p:nvPr/>
        </p:nvGrpSpPr>
        <p:grpSpPr>
          <a:xfrm>
            <a:off x="525780" y="1276350"/>
            <a:ext cx="8641080" cy="350520"/>
            <a:chOff x="525780" y="1276350"/>
            <a:chExt cx="8641080" cy="350520"/>
          </a:xfrm>
        </p:grpSpPr>
        <p:sp>
          <p:nvSpPr>
            <p:cNvPr id="5" name="TextBox 5"/>
            <p:cNvSpPr txBox="1"/>
            <p:nvPr/>
          </p:nvSpPr>
          <p:spPr>
            <a:xfrm>
              <a:off x="525780" y="1333500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カーネルを書き換えずにアプリを追加でき、</a:t>
              </a:r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4667250" y="1276350"/>
              <a:ext cx="2800350" cy="304800"/>
              <a:chOff x="4667250" y="1276350"/>
              <a:chExt cx="2800350" cy="304800"/>
            </a:xfrm>
          </p:grpSpPr>
          <p:sp>
            <p:nvSpPr>
              <p:cNvPr id="6" name="Rectangle 6"/>
              <p:cNvSpPr/>
              <p:nvPr/>
            </p:nvSpPr>
            <p:spPr>
              <a:xfrm>
                <a:off x="4667250" y="1276350"/>
                <a:ext cx="62865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B2A3C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5581650" y="1276350"/>
                <a:ext cx="8001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B2A3C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6667500" y="1276350"/>
                <a:ext cx="800100" cy="304800"/>
              </a:xfrm>
              <a:prstGeom prst="roundRect">
                <a:avLst>
                  <a:gd name="adj" fmla="val 12500"/>
                </a:avLst>
              </a:prstGeom>
              <a:solidFill>
                <a:srgbClr val="0B2A3C"/>
              </a:solidFill>
              <a:ln>
                <a:noFill/>
              </a:ln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4753356" y="1356360"/>
              <a:ext cx="2631262" cy="234696"/>
              <a:chOff x="4753356" y="1356360"/>
              <a:chExt cx="2631262" cy="234696"/>
            </a:xfrm>
          </p:grpSpPr>
          <p:sp>
            <p:nvSpPr>
              <p:cNvPr id="10" name="TextBox 10"/>
              <p:cNvSpPr txBox="1"/>
              <p:nvPr/>
            </p:nvSpPr>
            <p:spPr>
              <a:xfrm>
                <a:off x="4753356" y="1356360"/>
                <a:ext cx="4564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setup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5664632" y="1356360"/>
                <a:ext cx="6341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ram-run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750482" y="1356360"/>
                <a:ext cx="6341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monitor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5326380" y="1333500"/>
              <a:ext cx="3840480" cy="293370"/>
              <a:chOff x="5326380" y="1333500"/>
              <a:chExt cx="3840480" cy="293370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5326380" y="1333500"/>
                <a:ext cx="2171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b="1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、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412230" y="1333500"/>
                <a:ext cx="2171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b="1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、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536180" y="1333500"/>
                <a:ext cx="1630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b="1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はそのまま使える</a:t>
                </a:r>
              </a:p>
            </p:txBody>
          </p:sp>
        </p:grpSp>
      </p:grpSp>
      <p:grpSp>
        <p:nvGrpSpPr>
          <p:cNvPr id="67" name="steps"/>
          <p:cNvGrpSpPr/>
          <p:nvPr/>
        </p:nvGrpSpPr>
        <p:grpSpPr>
          <a:xfrm>
            <a:off x="723900" y="1971675"/>
            <a:ext cx="6725579" cy="2646045"/>
            <a:chOff x="723900" y="1971675"/>
            <a:chExt cx="6725579" cy="2646045"/>
          </a:xfrm>
        </p:grpSpPr>
        <p:sp>
          <p:nvSpPr>
            <p:cNvPr id="19" name="Line 19"/>
            <p:cNvSpPr/>
            <p:nvPr/>
          </p:nvSpPr>
          <p:spPr>
            <a:xfrm>
              <a:off x="876300" y="213360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19050">
              <a:solidFill>
                <a:srgbClr val="BCCCDC"/>
              </a:solidFill>
            </a:ln>
          </p:spPr>
        </p:sp>
        <p:grpSp>
          <p:nvGrpSpPr>
            <p:cNvPr id="30" name="step-1"/>
            <p:cNvGrpSpPr/>
            <p:nvPr/>
          </p:nvGrpSpPr>
          <p:grpSpPr>
            <a:xfrm>
              <a:off x="723900" y="1971675"/>
              <a:ext cx="5261610" cy="360045"/>
              <a:chOff x="723900" y="1971675"/>
              <a:chExt cx="5261610" cy="360045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723900" y="1981200"/>
                <a:ext cx="304800" cy="304800"/>
              </a:xfrm>
              <a:prstGeom prst="ellipse">
                <a:avLst/>
              </a:prstGeom>
              <a:solidFill>
                <a:srgbClr val="0B6E8E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23744" y="2061210"/>
                <a:ext cx="1051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1257300" y="1971675"/>
                <a:ext cx="264795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0B2A3C"/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4248150" y="1971675"/>
                <a:ext cx="104775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0B2A3C"/>
              </a:solidFill>
              <a:ln>
                <a:noFill/>
              </a:ln>
            </p:spPr>
          </p:sp>
          <p:grpSp>
            <p:nvGrpSpPr>
              <p:cNvPr id="26" name="Group 26"/>
              <p:cNvGrpSpPr/>
              <p:nvPr/>
            </p:nvGrpSpPr>
            <p:grpSpPr>
              <a:xfrm>
                <a:off x="1327023" y="2053114"/>
                <a:ext cx="3951529" cy="249364"/>
                <a:chOff x="1327023" y="2053114"/>
                <a:chExt cx="3951529" cy="249364"/>
              </a:xfrm>
            </p:grpSpPr>
            <p:sp>
              <p:nvSpPr>
                <p:cNvPr id="24" name="TextBox 24"/>
                <p:cNvSpPr txBox="1"/>
                <p:nvPr/>
              </p:nvSpPr>
              <p:spPr>
                <a:xfrm>
                  <a:off x="1327023" y="2053114"/>
                  <a:ext cx="2666583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80" dirty="0">
                      <a:solidFill>
                        <a:srgbClr val="FFFFFF"/>
                      </a:solidFill>
                      <a:latin typeface="Consolas"/>
                      <a:ea typeface="Consolas"/>
                      <a:cs typeface="Consolas"/>
                    </a:rPr>
                    <a:t>userspace/&lt;app&gt;/src/main.cpp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4317873" y="2053114"/>
                  <a:ext cx="960679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80" dirty="0">
                      <a:solidFill>
                        <a:srgbClr val="FFFFFF"/>
                      </a:solidFill>
                      <a:latin typeface="Consolas"/>
                      <a:ea typeface="Consolas"/>
                      <a:cs typeface="Consolas"/>
                    </a:rPr>
                    <a:t>usermain()</a:t>
                  </a:r>
                </a:p>
              </p:txBody>
            </p:sp>
          </p:grpSp>
          <p:grpSp>
            <p:nvGrpSpPr>
              <p:cNvPr id="29" name="Group 29"/>
              <p:cNvGrpSpPr/>
              <p:nvPr/>
            </p:nvGrpSpPr>
            <p:grpSpPr>
              <a:xfrm>
                <a:off x="3973830" y="2038350"/>
                <a:ext cx="2011680" cy="293370"/>
                <a:chOff x="3973830" y="2038350"/>
                <a:chExt cx="2011680" cy="293370"/>
              </a:xfrm>
            </p:grpSpPr>
            <p:sp>
              <p:nvSpPr>
                <p:cNvPr id="27" name="TextBox 27"/>
                <p:cNvSpPr txBox="1"/>
                <p:nvPr/>
              </p:nvSpPr>
              <p:spPr>
                <a:xfrm>
                  <a:off x="3973830" y="2038350"/>
                  <a:ext cx="21717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ja-JP" sz="1500" dirty="0">
                      <a:solidFill>
                        <a:srgbClr val="102A43"/>
                      </a:solidFill>
                      <a:latin typeface="+mn-lt"/>
                      <a:ea typeface="+mn-ea"/>
                      <a:cs typeface="+mn-cs"/>
                    </a:rPr>
                    <a:t>に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5364480" y="2038350"/>
                  <a:ext cx="62103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ja-JP" sz="1500" dirty="0">
                      <a:solidFill>
                        <a:srgbClr val="102A43"/>
                      </a:solidFill>
                      <a:latin typeface="+mn-lt"/>
                      <a:ea typeface="+mn-ea"/>
                      <a:cs typeface="+mn-cs"/>
                    </a:rPr>
                    <a:t>を書く</a:t>
                  </a:r>
                </a:p>
              </p:txBody>
            </p:sp>
          </p:grpSp>
        </p:grpSp>
        <p:grpSp>
          <p:nvGrpSpPr>
            <p:cNvPr id="36" name="step-2"/>
            <p:cNvGrpSpPr/>
            <p:nvPr/>
          </p:nvGrpSpPr>
          <p:grpSpPr>
            <a:xfrm>
              <a:off x="723900" y="2543175"/>
              <a:ext cx="6725579" cy="360045"/>
              <a:chOff x="723900" y="2543175"/>
              <a:chExt cx="6725579" cy="360045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723900" y="2552700"/>
                <a:ext cx="304800" cy="304800"/>
              </a:xfrm>
              <a:prstGeom prst="ellipse">
                <a:avLst/>
              </a:prstGeom>
              <a:solidFill>
                <a:srgbClr val="0B6E8E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23744" y="2632710"/>
                <a:ext cx="1051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1257300" y="2543175"/>
                <a:ext cx="1400175" cy="323850"/>
              </a:xfrm>
              <a:prstGeom prst="roundRect">
                <a:avLst>
                  <a:gd name="adj" fmla="val 11765"/>
                </a:avLst>
              </a:prstGeom>
              <a:solidFill>
                <a:srgbClr val="0B2A3C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327023" y="2624614"/>
                <a:ext cx="135710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CMakeLists.txt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2726055" y="2609850"/>
                <a:ext cx="472342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でμT-Kernelとボード設定のターゲットをリンクする</a:t>
                </a:r>
              </a:p>
            </p:txBody>
          </p:sp>
        </p:grpSp>
        <p:grpSp>
          <p:nvGrpSpPr>
            <p:cNvPr id="47" name="step-3"/>
            <p:cNvGrpSpPr/>
            <p:nvPr/>
          </p:nvGrpSpPr>
          <p:grpSpPr>
            <a:xfrm>
              <a:off x="723900" y="3114675"/>
              <a:ext cx="6236970" cy="360045"/>
              <a:chOff x="723900" y="3114675"/>
              <a:chExt cx="6236970" cy="360045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723900" y="3124200"/>
                <a:ext cx="304800" cy="304800"/>
              </a:xfrm>
              <a:prstGeom prst="ellipse">
                <a:avLst/>
              </a:prstGeom>
              <a:solidFill>
                <a:srgbClr val="0B6E8E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823744" y="3204210"/>
                <a:ext cx="1051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1257300" y="3114675"/>
                <a:ext cx="866775" cy="323850"/>
              </a:xfrm>
              <a:prstGeom prst="roundRect">
                <a:avLst>
                  <a:gd name="adj" fmla="val 11765"/>
                </a:avLst>
              </a:prstGeom>
              <a:solidFill>
                <a:srgbClr val="0B2A3C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4914900" y="3114675"/>
                <a:ext cx="9525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0B2A3C"/>
              </a:solidFill>
              <a:ln>
                <a:noFill/>
              </a:ln>
            </p:spPr>
          </p:sp>
          <p:grpSp>
            <p:nvGrpSpPr>
              <p:cNvPr id="43" name="Group 43"/>
              <p:cNvGrpSpPr/>
              <p:nvPr/>
            </p:nvGrpSpPr>
            <p:grpSpPr>
              <a:xfrm>
                <a:off x="1327023" y="3196114"/>
                <a:ext cx="4523506" cy="249364"/>
                <a:chOff x="1327023" y="3196114"/>
                <a:chExt cx="4523506" cy="249364"/>
              </a:xfrm>
            </p:grpSpPr>
            <p:sp>
              <p:nvSpPr>
                <p:cNvPr id="41" name="TextBox 41"/>
                <p:cNvSpPr txBox="1"/>
                <p:nvPr/>
              </p:nvSpPr>
              <p:spPr>
                <a:xfrm>
                  <a:off x="1327023" y="3196114"/>
                  <a:ext cx="776498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80" dirty="0">
                      <a:solidFill>
                        <a:srgbClr val="FFFFFF"/>
                      </a:solidFill>
                      <a:latin typeface="Consolas"/>
                      <a:ea typeface="Consolas"/>
                      <a:cs typeface="Consolas"/>
                    </a:rPr>
                    <a:t>Makefile</a:t>
                  </a:r>
                </a:p>
              </p:txBody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4984623" y="3196114"/>
                  <a:ext cx="865906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80" dirty="0">
                      <a:solidFill>
                        <a:srgbClr val="FFFFFF"/>
                      </a:solidFill>
                      <a:latin typeface="Consolas"/>
                      <a:ea typeface="Consolas"/>
                      <a:cs typeface="Consolas"/>
                    </a:rPr>
                    <a:t>common.mk</a:t>
                  </a:r>
                </a:p>
              </p:txBody>
            </p:sp>
          </p:grpSp>
          <p:grpSp>
            <p:nvGrpSpPr>
              <p:cNvPr id="46" name="Group 46"/>
              <p:cNvGrpSpPr/>
              <p:nvPr/>
            </p:nvGrpSpPr>
            <p:grpSpPr>
              <a:xfrm>
                <a:off x="2192655" y="3181350"/>
                <a:ext cx="4768215" cy="293370"/>
                <a:chOff x="2192655" y="3181350"/>
                <a:chExt cx="4768215" cy="293370"/>
              </a:xfrm>
            </p:grpSpPr>
            <p:sp>
              <p:nvSpPr>
                <p:cNvPr id="44" name="TextBox 44"/>
                <p:cNvSpPr txBox="1"/>
                <p:nvPr/>
              </p:nvSpPr>
              <p:spPr>
                <a:xfrm>
                  <a:off x="2192655" y="3181350"/>
                  <a:ext cx="264033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ja-JP" sz="1500" dirty="0">
                      <a:solidFill>
                        <a:srgbClr val="102A43"/>
                      </a:solidFill>
                      <a:latin typeface="+mn-lt"/>
                      <a:ea typeface="+mn-ea"/>
                      <a:cs typeface="+mn-cs"/>
                    </a:rPr>
                    <a:t>でアプリ名を指定し、共通の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5935980" y="3181350"/>
                  <a:ext cx="102489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ja-JP" sz="1500" dirty="0">
                      <a:solidFill>
                        <a:srgbClr val="102A43"/>
                      </a:solidFill>
                      <a:latin typeface="+mn-lt"/>
                      <a:ea typeface="+mn-ea"/>
                      <a:cs typeface="+mn-cs"/>
                    </a:rPr>
                    <a:t>を読み込む</a:t>
                  </a:r>
                </a:p>
              </p:txBody>
            </p:sp>
          </p:grpSp>
        </p:grpSp>
        <p:grpSp>
          <p:nvGrpSpPr>
            <p:cNvPr id="55" name="step-4"/>
            <p:cNvGrpSpPr/>
            <p:nvPr/>
          </p:nvGrpSpPr>
          <p:grpSpPr>
            <a:xfrm>
              <a:off x="723900" y="3686175"/>
              <a:ext cx="5194935" cy="360045"/>
              <a:chOff x="723900" y="3686175"/>
              <a:chExt cx="5194935" cy="360045"/>
            </a:xfrm>
          </p:grpSpPr>
          <p:sp>
            <p:nvSpPr>
              <p:cNvPr id="48" name="Ellipse 48"/>
              <p:cNvSpPr/>
              <p:nvPr/>
            </p:nvSpPr>
            <p:spPr>
              <a:xfrm>
                <a:off x="723900" y="3695700"/>
                <a:ext cx="304800" cy="304800"/>
              </a:xfrm>
              <a:prstGeom prst="ellipse">
                <a:avLst/>
              </a:prstGeom>
              <a:solidFill>
                <a:srgbClr val="0B6E8E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823744" y="3775710"/>
                <a:ext cx="1051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4457700" y="3686175"/>
                <a:ext cx="771525" cy="323850"/>
              </a:xfrm>
              <a:prstGeom prst="roundRect">
                <a:avLst>
                  <a:gd name="adj" fmla="val 11765"/>
                </a:avLst>
              </a:prstGeom>
              <a:solidFill>
                <a:srgbClr val="0B2A3C"/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4527423" y="3767614"/>
                <a:ext cx="67636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config/</a:t>
                </a:r>
              </a:p>
            </p:txBody>
          </p:sp>
          <p:grpSp>
            <p:nvGrpSpPr>
              <p:cNvPr id="54" name="Group 54"/>
              <p:cNvGrpSpPr/>
              <p:nvPr/>
            </p:nvGrpSpPr>
            <p:grpSpPr>
              <a:xfrm>
                <a:off x="1249680" y="3752850"/>
                <a:ext cx="4669155" cy="293370"/>
                <a:chOff x="1249680" y="3752850"/>
                <a:chExt cx="4669155" cy="293370"/>
              </a:xfrm>
            </p:grpSpPr>
            <p:sp>
              <p:nvSpPr>
                <p:cNvPr id="52" name="TextBox 52"/>
                <p:cNvSpPr txBox="1"/>
                <p:nvPr/>
              </p:nvSpPr>
              <p:spPr>
                <a:xfrm>
                  <a:off x="1249680" y="3752850"/>
                  <a:ext cx="3169925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ja-JP" sz="1500" dirty="0">
                      <a:solidFill>
                        <a:srgbClr val="102A43"/>
                      </a:solidFill>
                      <a:latin typeface="+mn-lt"/>
                      <a:ea typeface="+mn-ea"/>
                      <a:cs typeface="+mn-cs"/>
                    </a:rPr>
                    <a:t>CubeMXの設定ファイル（IOC）を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5297805" y="3752850"/>
                  <a:ext cx="62103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ja-JP" sz="1500" dirty="0">
                      <a:solidFill>
                        <a:srgbClr val="102A43"/>
                      </a:solidFill>
                      <a:latin typeface="+mn-lt"/>
                      <a:ea typeface="+mn-ea"/>
                      <a:cs typeface="+mn-cs"/>
                    </a:rPr>
                    <a:t>に置く</a:t>
                  </a:r>
                </a:p>
              </p:txBody>
            </p:sp>
          </p:grpSp>
        </p:grpSp>
        <p:grpSp>
          <p:nvGrpSpPr>
            <p:cNvPr id="66" name="step-5"/>
            <p:cNvGrpSpPr/>
            <p:nvPr/>
          </p:nvGrpSpPr>
          <p:grpSpPr>
            <a:xfrm>
              <a:off x="723900" y="4257675"/>
              <a:ext cx="5273040" cy="360045"/>
              <a:chOff x="723900" y="4257675"/>
              <a:chExt cx="5273040" cy="360045"/>
            </a:xfrm>
          </p:grpSpPr>
          <p:sp>
            <p:nvSpPr>
              <p:cNvPr id="56" name="Ellipse 56"/>
              <p:cNvSpPr/>
              <p:nvPr/>
            </p:nvSpPr>
            <p:spPr>
              <a:xfrm>
                <a:off x="723900" y="4267200"/>
                <a:ext cx="304800" cy="304800"/>
              </a:xfrm>
              <a:prstGeom prst="ellipse">
                <a:avLst/>
              </a:prstGeom>
              <a:solidFill>
                <a:srgbClr val="0B6E8E"/>
              </a:solidFill>
              <a:ln>
                <a:noFill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823744" y="4347210"/>
                <a:ext cx="1051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20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1257300" y="4257675"/>
                <a:ext cx="2733675" cy="323850"/>
              </a:xfrm>
              <a:prstGeom prst="roundRect">
                <a:avLst>
                  <a:gd name="adj" fmla="val 11765"/>
                </a:avLst>
              </a:prstGeom>
              <a:solidFill>
                <a:srgbClr val="0B2A3C"/>
              </a:solidFill>
              <a:ln>
                <a:noFill/>
              </a:ln>
            </p:spPr>
          </p:sp>
          <p:sp>
            <p:nvSpPr>
              <p:cNvPr id="59" name="Rectangle 59"/>
              <p:cNvSpPr/>
              <p:nvPr/>
            </p:nvSpPr>
            <p:spPr>
              <a:xfrm>
                <a:off x="4333875" y="4257675"/>
                <a:ext cx="771525" cy="323850"/>
              </a:xfrm>
              <a:prstGeom prst="roundRect">
                <a:avLst>
                  <a:gd name="adj" fmla="val 11765"/>
                </a:avLst>
              </a:prstGeom>
              <a:solidFill>
                <a:srgbClr val="0B2A3C"/>
              </a:solidFill>
              <a:ln>
                <a:noFill/>
              </a:ln>
            </p:spPr>
          </p:sp>
          <p:grpSp>
            <p:nvGrpSpPr>
              <p:cNvPr id="62" name="Group 62"/>
              <p:cNvGrpSpPr/>
              <p:nvPr/>
            </p:nvGrpSpPr>
            <p:grpSpPr>
              <a:xfrm>
                <a:off x="1327023" y="4339114"/>
                <a:ext cx="3752936" cy="249364"/>
                <a:chOff x="1327023" y="4339114"/>
                <a:chExt cx="3752936" cy="249364"/>
              </a:xfrm>
            </p:grpSpPr>
            <p:sp>
              <p:nvSpPr>
                <p:cNvPr id="60" name="TextBox 60"/>
                <p:cNvSpPr txBox="1"/>
                <p:nvPr/>
              </p:nvSpPr>
              <p:spPr>
                <a:xfrm>
                  <a:off x="1327023" y="4339114"/>
                  <a:ext cx="2768427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80" dirty="0">
                      <a:solidFill>
                        <a:srgbClr val="FFFFFF"/>
                      </a:solidFill>
                      <a:latin typeface="Consolas"/>
                      <a:ea typeface="Consolas"/>
                      <a:cs typeface="Consolas"/>
                    </a:rPr>
                    <a:t>make -C userspace/&lt;app&gt; setup</a:t>
                  </a: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4403598" y="4339114"/>
                  <a:ext cx="676361" cy="2493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80" dirty="0">
                      <a:solidFill>
                        <a:srgbClr val="FFFFFF"/>
                      </a:solidFill>
                      <a:latin typeface="Consolas"/>
                      <a:ea typeface="Consolas"/>
                      <a:cs typeface="Consolas"/>
                    </a:rPr>
                    <a:t>ram-run</a:t>
                  </a:r>
                </a:p>
              </p:txBody>
            </p:sp>
          </p:grpSp>
          <p:grpSp>
            <p:nvGrpSpPr>
              <p:cNvPr id="65" name="Group 65"/>
              <p:cNvGrpSpPr/>
              <p:nvPr/>
            </p:nvGrpSpPr>
            <p:grpSpPr>
              <a:xfrm>
                <a:off x="4059555" y="4324350"/>
                <a:ext cx="1937385" cy="293370"/>
                <a:chOff x="4059555" y="4324350"/>
                <a:chExt cx="1937385" cy="293370"/>
              </a:xfrm>
            </p:grpSpPr>
            <p:sp>
              <p:nvSpPr>
                <p:cNvPr id="63" name="TextBox 63"/>
                <p:cNvSpPr txBox="1"/>
                <p:nvPr/>
              </p:nvSpPr>
              <p:spPr>
                <a:xfrm>
                  <a:off x="4059555" y="4324350"/>
                  <a:ext cx="21717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ja-JP" sz="1500" dirty="0">
                      <a:solidFill>
                        <a:srgbClr val="102A43"/>
                      </a:solidFill>
                      <a:latin typeface="+mn-lt"/>
                      <a:ea typeface="+mn-ea"/>
                      <a:cs typeface="+mn-cs"/>
                    </a:rPr>
                    <a:t>、</a:t>
                  </a:r>
                </a:p>
              </p:txBody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5173980" y="4324350"/>
                  <a:ext cx="822960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ja-JP" sz="1500" dirty="0">
                      <a:solidFill>
                        <a:srgbClr val="102A43"/>
                      </a:solidFill>
                      <a:latin typeface="+mn-lt"/>
                      <a:ea typeface="+mn-ea"/>
                      <a:cs typeface="+mn-cs"/>
                    </a:rPr>
                    <a:t>で動かす</a:t>
                  </a:r>
                </a:p>
              </p:txBody>
            </p:sp>
          </p:grpSp>
        </p:grpSp>
      </p:grpSp>
      <p:grpSp>
        <p:nvGrpSpPr>
          <p:cNvPr id="85" name="notes"/>
          <p:cNvGrpSpPr/>
          <p:nvPr/>
        </p:nvGrpSpPr>
        <p:grpSpPr>
          <a:xfrm>
            <a:off x="533400" y="4991100"/>
            <a:ext cx="11125200" cy="1219200"/>
            <a:chOff x="533400" y="4991100"/>
            <a:chExt cx="11125200" cy="1219200"/>
          </a:xfrm>
        </p:grpSpPr>
        <p:sp>
          <p:nvSpPr>
            <p:cNvPr id="68" name="Rectangle 68"/>
            <p:cNvSpPr/>
            <p:nvPr/>
          </p:nvSpPr>
          <p:spPr>
            <a:xfrm>
              <a:off x="533400" y="4991100"/>
              <a:ext cx="11125200" cy="1219200"/>
            </a:xfrm>
            <a:prstGeom prst="rect">
              <a:avLst/>
            </a:prstGeom>
            <a:solidFill>
              <a:srgbClr val="E4E9EF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533400" y="4991100"/>
              <a:ext cx="57150" cy="1219200"/>
            </a:xfrm>
            <a:prstGeom prst="rect">
              <a:avLst/>
            </a:prstGeom>
            <a:solidFill>
              <a:srgbClr val="829AB1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1714500" y="5143500"/>
              <a:ext cx="5419725" cy="952500"/>
              <a:chOff x="1714500" y="5143500"/>
              <a:chExt cx="5419725" cy="952500"/>
            </a:xfrm>
          </p:grpSpPr>
          <p:sp>
            <p:nvSpPr>
              <p:cNvPr id="70" name="Rectangle 70"/>
              <p:cNvSpPr/>
              <p:nvPr/>
            </p:nvSpPr>
            <p:spPr>
              <a:xfrm>
                <a:off x="1714500" y="5143500"/>
                <a:ext cx="2800350" cy="266700"/>
              </a:xfrm>
              <a:prstGeom prst="roundRect">
                <a:avLst>
                  <a:gd name="adj" fmla="val 14286"/>
                </a:avLst>
              </a:prstGeom>
              <a:solidFill>
                <a:srgbClr val="486581"/>
              </a:solidFill>
              <a:ln>
                <a:noFill/>
              </a:ln>
            </p:spPr>
          </p:sp>
          <p:sp>
            <p:nvSpPr>
              <p:cNvPr id="71" name="Rectangle 71"/>
              <p:cNvSpPr/>
              <p:nvPr/>
            </p:nvSpPr>
            <p:spPr>
              <a:xfrm>
                <a:off x="5848350" y="5143500"/>
                <a:ext cx="1285875" cy="266700"/>
              </a:xfrm>
              <a:prstGeom prst="roundRect">
                <a:avLst>
                  <a:gd name="adj" fmla="val 14286"/>
                </a:avLst>
              </a:prstGeom>
              <a:solidFill>
                <a:srgbClr val="486581"/>
              </a:solidFill>
              <a:ln>
                <a:noFill/>
              </a:ln>
            </p:spPr>
          </p:sp>
          <p:sp>
            <p:nvSpPr>
              <p:cNvPr id="72" name="Rectangle 72"/>
              <p:cNvSpPr/>
              <p:nvPr/>
            </p:nvSpPr>
            <p:spPr>
              <a:xfrm>
                <a:off x="3810000" y="5829300"/>
                <a:ext cx="1285875" cy="266700"/>
              </a:xfrm>
              <a:prstGeom prst="roundRect">
                <a:avLst>
                  <a:gd name="adj" fmla="val 14286"/>
                </a:avLst>
              </a:prstGeom>
              <a:solidFill>
                <a:srgbClr val="486581"/>
              </a:solidFill>
              <a:ln>
                <a:noFill/>
              </a:ln>
            </p:spPr>
          </p:sp>
        </p:grpSp>
        <p:grpSp>
          <p:nvGrpSpPr>
            <p:cNvPr id="77" name="Group 77"/>
            <p:cNvGrpSpPr/>
            <p:nvPr/>
          </p:nvGrpSpPr>
          <p:grpSpPr>
            <a:xfrm>
              <a:off x="1765935" y="5203031"/>
              <a:ext cx="5306243" cy="905828"/>
              <a:chOff x="1765935" y="5203031"/>
              <a:chExt cx="5306243" cy="905828"/>
            </a:xfrm>
          </p:grpSpPr>
          <p:sp>
            <p:nvSpPr>
              <p:cNvPr id="74" name="TextBox 74"/>
              <p:cNvSpPr txBox="1"/>
              <p:nvPr/>
            </p:nvSpPr>
            <p:spPr>
              <a:xfrm>
                <a:off x="1765935" y="5203031"/>
                <a:ext cx="266505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userspace/experiment-hello-world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5899785" y="5203031"/>
                <a:ext cx="117239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docs/kernel.md</a:t>
                </a:r>
              </a:p>
            </p:txBody>
          </p:sp>
          <p:sp>
            <p:nvSpPr>
              <p:cNvPr id="76" name="TextBox 76"/>
              <p:cNvSpPr txBox="1"/>
              <p:nvPr/>
            </p:nvSpPr>
            <p:spPr>
              <a:xfrm>
                <a:off x="3861435" y="5888831"/>
                <a:ext cx="118755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12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CMakeLists.txt</a:t>
                </a: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793623" y="5196364"/>
              <a:ext cx="7974101" cy="935164"/>
              <a:chOff x="793623" y="5196364"/>
              <a:chExt cx="7974101" cy="935164"/>
            </a:xfrm>
          </p:grpSpPr>
          <p:sp>
            <p:nvSpPr>
              <p:cNvPr id="78" name="TextBox 78"/>
              <p:cNvSpPr txBox="1"/>
              <p:nvPr/>
            </p:nvSpPr>
            <p:spPr>
              <a:xfrm>
                <a:off x="793623" y="5196364"/>
                <a:ext cx="87452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8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最小の例は</a:t>
                </a:r>
              </a:p>
            </p:txBody>
          </p:sp>
          <p:sp>
            <p:nvSpPr>
              <p:cNvPr id="79" name="TextBox 79"/>
              <p:cNvSpPr txBox="1"/>
              <p:nvPr/>
            </p:nvSpPr>
            <p:spPr>
              <a:xfrm>
                <a:off x="4584573" y="5196364"/>
                <a:ext cx="121914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8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。手順の詳細は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7203948" y="5196364"/>
                <a:ext cx="15637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8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の「アプリの追加」</a:t>
                </a: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793623" y="5577364"/>
                <a:ext cx="5399376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8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ドライバ、ミドルウェア、AI用のMakeターゲットは現在ai-app向け。</a:t>
                </a:r>
              </a:p>
            </p:txBody>
          </p:sp>
          <p:sp>
            <p:nvSpPr>
              <p:cNvPr id="82" name="TextBox 82"/>
              <p:cNvSpPr txBox="1"/>
              <p:nvPr/>
            </p:nvSpPr>
            <p:spPr>
              <a:xfrm>
                <a:off x="793623" y="5882164"/>
                <a:ext cx="294228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8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ほかのアプリで使う場合は、ルートの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5165598" y="5882164"/>
                <a:ext cx="242534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8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とメモリ配置の設定を追加する</a:t>
                </a:r>
              </a:p>
            </p:txBody>
          </p:sp>
        </p:grpSp>
      </p:grpSp>
      <p:grpSp>
        <p:nvGrpSpPr>
          <p:cNvPr id="88" name="footer"/>
          <p:cNvGrpSpPr/>
          <p:nvPr/>
        </p:nvGrpSpPr>
        <p:grpSpPr>
          <a:xfrm>
            <a:off x="528066" y="6535102"/>
            <a:ext cx="11135868" cy="205359"/>
            <a:chOff x="528066" y="6535102"/>
            <a:chExt cx="11135868" cy="205359"/>
          </a:xfrm>
        </p:grpSpPr>
        <p:sp>
          <p:nvSpPr>
            <p:cNvPr id="86" name="TextBox 86"/>
            <p:cNvSpPr txBox="1"/>
            <p:nvPr/>
          </p:nvSpPr>
          <p:spPr>
            <a:xfrm>
              <a:off x="528066" y="6535102"/>
              <a:ext cx="689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μAI-Studio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0861" y="6535102"/>
              <a:ext cx="16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33400" y="533400"/>
            <a:ext cx="6684089" cy="528257"/>
            <a:chOff x="533400" y="533400"/>
            <a:chExt cx="6684089" cy="528257"/>
          </a:xfrm>
        </p:grpSpPr>
        <p:sp>
          <p:nvSpPr>
            <p:cNvPr id="2" name="Rectangle 2"/>
            <p:cNvSpPr/>
            <p:nvPr/>
          </p:nvSpPr>
          <p:spPr>
            <a:xfrm>
              <a:off x="533400" y="533400"/>
              <a:ext cx="57150" cy="361950"/>
            </a:xfrm>
            <a:prstGeom prst="rect">
              <a:avLst/>
            </a:prstGeom>
            <a:solidFill>
              <a:srgbClr val="829AB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996" y="562928"/>
              <a:ext cx="64874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5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課題2：NPUアプリのメモリ配置は手作業</a:t>
              </a:r>
            </a:p>
          </p:txBody>
        </p:sp>
      </p:grpSp>
      <p:grpSp>
        <p:nvGrpSpPr>
          <p:cNvPr id="12" name="pain-marker"/>
          <p:cNvGrpSpPr/>
          <p:nvPr/>
        </p:nvGrpSpPr>
        <p:grpSpPr>
          <a:xfrm>
            <a:off x="533400" y="1295400"/>
            <a:ext cx="2857500" cy="4572000"/>
            <a:chOff x="533400" y="1295400"/>
            <a:chExt cx="2857500" cy="4572000"/>
          </a:xfrm>
        </p:grpSpPr>
        <p:sp>
          <p:nvSpPr>
            <p:cNvPr id="5" name="Rectangle 5"/>
            <p:cNvSpPr/>
            <p:nvPr/>
          </p:nvSpPr>
          <p:spPr>
            <a:xfrm>
              <a:off x="533400" y="1295400"/>
              <a:ext cx="2857500" cy="4572000"/>
            </a:xfrm>
            <a:prstGeom prst="rect">
              <a:avLst/>
            </a:prstGeom>
            <a:solidFill>
              <a:srgbClr val="E4E9E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0580" y="17049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rgbClr val="627D98"/>
                  </a:solidFill>
                  <a:latin typeface="+mn-lt"/>
                  <a:ea typeface="+mn-ea"/>
                  <a:cs typeface="+mn-cs"/>
                </a:rPr>
                <a:t>課題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81050" y="2171700"/>
              <a:ext cx="1431902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9000" b="1" dirty="0">
                  <a:solidFill>
                    <a:srgbClr val="627D9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977900" y="4521200"/>
              <a:ext cx="558801" cy="558801"/>
              <a:chOff x="977900" y="4521200"/>
              <a:chExt cx="558801" cy="55880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977900" y="4521200"/>
                <a:ext cx="558801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558801" h="279400">
                    <a:moveTo>
                      <a:pt x="279400" y="0"/>
                    </a:moveTo>
                    <a:lnTo>
                      <a:pt x="0" y="139700"/>
                    </a:lnTo>
                    <a:lnTo>
                      <a:pt x="279400" y="279400"/>
                    </a:lnTo>
                    <a:lnTo>
                      <a:pt x="558801" y="139700"/>
                    </a:lnTo>
                    <a:lnTo>
                      <a:pt x="279400" y="0"/>
                    </a:lnTo>
                  </a:path>
                </a:pathLst>
              </a:custGeom>
              <a:noFill/>
              <a:ln w="52388">
                <a:solidFill>
                  <a:srgbClr val="627D98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77900" y="4800600"/>
                <a:ext cx="558801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558801" h="139700">
                    <a:moveTo>
                      <a:pt x="0" y="0"/>
                    </a:moveTo>
                    <a:lnTo>
                      <a:pt x="279400" y="139700"/>
                    </a:lnTo>
                    <a:lnTo>
                      <a:pt x="558801" y="0"/>
                    </a:lnTo>
                  </a:path>
                </a:pathLst>
              </a:custGeom>
              <a:noFill/>
              <a:ln w="52388">
                <a:solidFill>
                  <a:srgbClr val="627D98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77900" y="4940301"/>
                <a:ext cx="558801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558801" h="139700">
                    <a:moveTo>
                      <a:pt x="0" y="0"/>
                    </a:moveTo>
                    <a:lnTo>
                      <a:pt x="279400" y="139700"/>
                    </a:lnTo>
                    <a:lnTo>
                      <a:pt x="558801" y="0"/>
                    </a:lnTo>
                  </a:path>
                </a:pathLst>
              </a:custGeom>
              <a:noFill/>
              <a:ln w="52388">
                <a:solidFill>
                  <a:srgbClr val="627D98"/>
                </a:solidFill>
              </a:ln>
            </p:spPr>
          </p:sp>
        </p:grpSp>
      </p:grpSp>
      <p:grpSp>
        <p:nvGrpSpPr>
          <p:cNvPr id="14" name="lead"/>
          <p:cNvGrpSpPr/>
          <p:nvPr/>
        </p:nvGrpSpPr>
        <p:grpSpPr>
          <a:xfrm>
            <a:off x="3802380" y="1400175"/>
            <a:ext cx="4877257" cy="293370"/>
            <a:chOff x="3802380" y="1400175"/>
            <a:chExt cx="4877257" cy="293370"/>
          </a:xfrm>
        </p:grpSpPr>
        <p:sp>
          <p:nvSpPr>
            <p:cNvPr id="13" name="TextBox 13"/>
            <p:cNvSpPr txBox="1"/>
            <p:nvPr/>
          </p:nvSpPr>
          <p:spPr>
            <a:xfrm>
              <a:off x="3802380" y="1400175"/>
              <a:ext cx="48772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AIモデルを動かすには、置き場所を決める対象が多い</a:t>
              </a:r>
            </a:p>
          </p:txBody>
        </p:sp>
      </p:grpSp>
      <p:graphicFrame>
        <p:nvGraphicFramePr>
          <p:cNvPr id="15" name="p10-placement"/>
          <p:cNvGraphicFramePr>
            <a:graphicFrameLocks noGrp="1"/>
          </p:cNvGraphicFramePr>
          <p:nvPr/>
        </p:nvGraphicFramePr>
        <p:xfrm>
          <a:off x="3810000" y="1752600"/>
          <a:ext cx="7848600" cy="24765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619500"/>
                <a:gridCol w="4229100"/>
              </a:tblGrid>
              <a:tr h="381000">
                <a:tc>
                  <a:txBody>
                    <a:bodyPr/>
                    <a:lstStyle/>
                    <a:p>
                      <a:pPr/>
                      <a:r>
                        <a:rPr lang="ja-JP" sz="1280" b="1">
                          <a:solidFill>
                            <a:srgbClr val="FFFFFF"/>
                          </a:solidFill>
                          <a:latin typeface="Segoe UI"/>
                          <a:ea typeface="Meiryo"/>
                          <a:cs typeface="Segoe UI"/>
                        </a:rPr>
                        <a:t>対象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280" b="1">
                          <a:solidFill>
                            <a:srgbClr val="FFFFFF"/>
                          </a:solidFill>
                          <a:latin typeface="Segoe UI"/>
                          <a:ea typeface="Meiryo"/>
                          <a:cs typeface="Segoe UI"/>
                        </a:rPr>
                        <a:t>置き場所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2A43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/>
                      <a:r>
                        <a:rPr lang="ja-JP" sz="128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モデルの重み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28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外部NOR Flash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/>
                      <a:r>
                        <a:rPr lang="ja-JP" sz="128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NPUコマンド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28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外部NOR Flash（リンカで配置）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/>
                      <a:r>
                        <a:rPr lang="ja-JP" sz="128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NPU作業領域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8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NPU RAM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/>
                      <a:r>
                        <a:rPr lang="ja-JP" sz="128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カメラ、表示、推論用のフレーム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-US" sz="128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PSRAM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/>
                      <a:r>
                        <a:rPr lang="ja-JP" sz="128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アプリ本体、実行記録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28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内部RAM / PSRAM</a:t>
                      </a:r>
                    </a:p>
                  </a:txBody>
                  <a:tcPr anchor="ctr" marL="152400" marR="152400" marT="19050" marB="1905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2" name="pain-points"/>
          <p:cNvGrpSpPr/>
          <p:nvPr/>
        </p:nvGrpSpPr>
        <p:grpSpPr>
          <a:xfrm>
            <a:off x="3810000" y="4667250"/>
            <a:ext cx="7543800" cy="922020"/>
            <a:chOff x="3810000" y="4667250"/>
            <a:chExt cx="7543800" cy="922020"/>
          </a:xfrm>
        </p:grpSpPr>
        <p:grpSp>
          <p:nvGrpSpPr>
            <p:cNvPr id="18" name="Group 18"/>
            <p:cNvGrpSpPr/>
            <p:nvPr/>
          </p:nvGrpSpPr>
          <p:grpSpPr>
            <a:xfrm>
              <a:off x="3810000" y="4705350"/>
              <a:ext cx="95250" cy="723900"/>
              <a:chOff x="3810000" y="4705350"/>
              <a:chExt cx="95250" cy="7239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3810000" y="4705350"/>
                <a:ext cx="95250" cy="95250"/>
              </a:xfrm>
              <a:prstGeom prst="rect">
                <a:avLst/>
              </a:prstGeom>
              <a:solidFill>
                <a:srgbClr val="627D98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3810000" y="5334000"/>
                <a:ext cx="95250" cy="95250"/>
              </a:xfrm>
              <a:prstGeom prst="rect">
                <a:avLst/>
              </a:prstGeom>
              <a:solidFill>
                <a:srgbClr val="627D98"/>
              </a:solidFill>
              <a:ln>
                <a:noFill/>
              </a:ln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4069080" y="4667250"/>
              <a:ext cx="7284720" cy="922020"/>
              <a:chOff x="4069080" y="4667250"/>
              <a:chExt cx="7284720" cy="922020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4069080" y="4667250"/>
                <a:ext cx="72847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モデルを増やすたびに、各領域のアドレスとサイズを手で調整し直す必要がある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069080" y="5295900"/>
                <a:ext cx="64770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設定がずれてもビルドは通り、</a:t>
                </a:r>
                <a:r>
                  <a:rPr lang="ja-JP" sz="1500" b="1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実機で原因の分かりにくい不具合</a:t>
                </a:r>
                <a:r>
                  <a:rPr lang="ja-JP" sz="150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になる</a:t>
                </a:r>
              </a:p>
            </p:txBody>
          </p:sp>
        </p:grpSp>
      </p:grpSp>
      <p:grpSp>
        <p:nvGrpSpPr>
          <p:cNvPr id="25" name="footer"/>
          <p:cNvGrpSpPr/>
          <p:nvPr/>
        </p:nvGrpSpPr>
        <p:grpSpPr>
          <a:xfrm>
            <a:off x="528066" y="6535102"/>
            <a:ext cx="11135868" cy="205359"/>
            <a:chOff x="528066" y="6535102"/>
            <a:chExt cx="11135868" cy="205359"/>
          </a:xfrm>
        </p:grpSpPr>
        <p:sp>
          <p:nvSpPr>
            <p:cNvPr id="23" name="TextBox 23"/>
            <p:cNvSpPr txBox="1"/>
            <p:nvPr/>
          </p:nvSpPr>
          <p:spPr>
            <a:xfrm>
              <a:off x="528066" y="6535102"/>
              <a:ext cx="689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μAI-Studio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500861" y="6535102"/>
              <a:ext cx="16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33400" y="533400"/>
            <a:ext cx="10304907" cy="528257"/>
            <a:chOff x="533400" y="533400"/>
            <a:chExt cx="10304907" cy="528257"/>
          </a:xfrm>
        </p:grpSpPr>
        <p:sp>
          <p:nvSpPr>
            <p:cNvPr id="2" name="Rectangle 2"/>
            <p:cNvSpPr/>
            <p:nvPr/>
          </p:nvSpPr>
          <p:spPr>
            <a:xfrm>
              <a:off x="533400" y="533400"/>
              <a:ext cx="57150" cy="36195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996" y="562928"/>
              <a:ext cx="1010831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5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解決2：メモリ配置の生成と検査（auto_static_memory_layout）</a:t>
              </a:r>
            </a:p>
          </p:txBody>
        </p:sp>
      </p:grpSp>
      <p:grpSp>
        <p:nvGrpSpPr>
          <p:cNvPr id="44" name="layout-diagram"/>
          <p:cNvGrpSpPr/>
          <p:nvPr/>
        </p:nvGrpSpPr>
        <p:grpSpPr>
          <a:xfrm>
            <a:off x="533400" y="1295400"/>
            <a:ext cx="11125200" cy="1866900"/>
            <a:chOff x="533400" y="1295400"/>
            <a:chExt cx="11125200" cy="1866900"/>
          </a:xfrm>
        </p:grpSpPr>
        <p:grpSp>
          <p:nvGrpSpPr>
            <p:cNvPr id="15" name="layout-inputs"/>
            <p:cNvGrpSpPr/>
            <p:nvPr/>
          </p:nvGrpSpPr>
          <p:grpSpPr>
            <a:xfrm>
              <a:off x="533400" y="1295400"/>
              <a:ext cx="2857500" cy="1866900"/>
              <a:chOff x="533400" y="1295400"/>
              <a:chExt cx="2857500" cy="1866900"/>
            </a:xfrm>
          </p:grpSpPr>
          <p:grpSp>
            <p:nvGrpSpPr>
              <p:cNvPr id="9" name="Group 9"/>
              <p:cNvGrpSpPr/>
              <p:nvPr/>
            </p:nvGrpSpPr>
            <p:grpSpPr>
              <a:xfrm>
                <a:off x="533400" y="1295400"/>
                <a:ext cx="2857500" cy="1866900"/>
                <a:chOff x="533400" y="1295400"/>
                <a:chExt cx="2857500" cy="1866900"/>
              </a:xfrm>
            </p:grpSpPr>
            <p:sp>
              <p:nvSpPr>
                <p:cNvPr id="5" name="Rectangle 5"/>
                <p:cNvSpPr/>
                <p:nvPr/>
              </p:nvSpPr>
              <p:spPr>
                <a:xfrm>
                  <a:off x="533400" y="1295400"/>
                  <a:ext cx="2857500" cy="3810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BCCCDC"/>
                  </a:solidFill>
                </a:ln>
              </p:spPr>
            </p:sp>
            <p:sp>
              <p:nvSpPr>
                <p:cNvPr id="6" name="Rectangle 6"/>
                <p:cNvSpPr/>
                <p:nvPr/>
              </p:nvSpPr>
              <p:spPr>
                <a:xfrm>
                  <a:off x="533400" y="1790700"/>
                  <a:ext cx="2857500" cy="3810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BCCCDC"/>
                  </a:solidFill>
                </a:ln>
              </p:spPr>
            </p:sp>
            <p:sp>
              <p:nvSpPr>
                <p:cNvPr id="7" name="Rectangle 7"/>
                <p:cNvSpPr/>
                <p:nvPr/>
              </p:nvSpPr>
              <p:spPr>
                <a:xfrm>
                  <a:off x="533400" y="2286000"/>
                  <a:ext cx="2857500" cy="3810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BCCCDC"/>
                  </a:solidFill>
                </a:ln>
              </p:spPr>
            </p:sp>
            <p:sp>
              <p:nvSpPr>
                <p:cNvPr id="8" name="Rectangle 8"/>
                <p:cNvSpPr/>
                <p:nvPr/>
              </p:nvSpPr>
              <p:spPr>
                <a:xfrm>
                  <a:off x="533400" y="2781300"/>
                  <a:ext cx="2857500" cy="381000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solidFill>
                    <a:srgbClr val="BCCCDC"/>
                  </a:solidFill>
                </a:ln>
              </p:spPr>
            </p:sp>
          </p:grpSp>
          <p:grpSp>
            <p:nvGrpSpPr>
              <p:cNvPr id="13" name="Group 13"/>
              <p:cNvGrpSpPr/>
              <p:nvPr/>
            </p:nvGrpSpPr>
            <p:grpSpPr>
              <a:xfrm>
                <a:off x="679704" y="1403985"/>
                <a:ext cx="2055724" cy="1225296"/>
                <a:chOff x="679704" y="1403985"/>
                <a:chExt cx="2055724" cy="1225296"/>
              </a:xfrm>
            </p:grpSpPr>
            <p:sp>
              <p:nvSpPr>
                <p:cNvPr id="10" name="TextBox 10"/>
                <p:cNvSpPr txBox="1"/>
                <p:nvPr/>
              </p:nvSpPr>
              <p:spPr>
                <a:xfrm>
                  <a:off x="679704" y="1403985"/>
                  <a:ext cx="152262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rgbClr val="102A43"/>
                      </a:solidFill>
                      <a:latin typeface="Consolas"/>
                      <a:ea typeface="Consolas"/>
                      <a:cs typeface="Consolas"/>
                    </a:rPr>
                    <a:t>board_memory.json</a:t>
                  </a:r>
                </a:p>
              </p:txBody>
            </p:sp>
            <p:sp>
              <p:nvSpPr>
                <p:cNvPr id="11" name="TextBox 11"/>
                <p:cNvSpPr txBox="1"/>
                <p:nvPr/>
              </p:nvSpPr>
              <p:spPr>
                <a:xfrm>
                  <a:off x="679704" y="1899285"/>
                  <a:ext cx="205572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rgbClr val="102A43"/>
                      </a:solidFill>
                      <a:latin typeface="Consolas"/>
                      <a:ea typeface="Consolas"/>
                      <a:cs typeface="Consolas"/>
                    </a:rPr>
                    <a:t>application_memory.json</a:t>
                  </a:r>
                </a:p>
              </p:txBody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679704" y="2394585"/>
                  <a:ext cx="1522628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en-US" sz="1200" dirty="0">
                      <a:solidFill>
                        <a:srgbClr val="102A43"/>
                      </a:solidFill>
                      <a:latin typeface="Consolas"/>
                      <a:ea typeface="Consolas"/>
                      <a:cs typeface="Consolas"/>
                    </a:rPr>
                    <a:t>model_layout.json</a:t>
                  </a:r>
                </a:p>
              </p:txBody>
            </p:sp>
          </p:grpSp>
          <p:sp>
            <p:nvSpPr>
              <p:cNvPr id="14" name="TextBox 14"/>
              <p:cNvSpPr txBox="1"/>
              <p:nvPr/>
            </p:nvSpPr>
            <p:spPr>
              <a:xfrm>
                <a:off x="679323" y="2891314"/>
                <a:ext cx="144669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28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STEdgeAIの生成物</a:t>
                </a:r>
              </a:p>
            </p:txBody>
          </p:sp>
        </p:grpSp>
        <p:grpSp>
          <p:nvGrpSpPr>
            <p:cNvPr id="22" name="layout-merge"/>
            <p:cNvGrpSpPr/>
            <p:nvPr/>
          </p:nvGrpSpPr>
          <p:grpSpPr>
            <a:xfrm>
              <a:off x="3390900" y="1485900"/>
              <a:ext cx="704850" cy="1495425"/>
              <a:chOff x="3390900" y="1485900"/>
              <a:chExt cx="704850" cy="1495425"/>
            </a:xfrm>
          </p:grpSpPr>
          <p:sp>
            <p:nvSpPr>
              <p:cNvPr id="16" name="Line 16"/>
              <p:cNvSpPr/>
              <p:nvPr/>
            </p:nvSpPr>
            <p:spPr>
              <a:xfrm>
                <a:off x="3390900" y="148590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486581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3390900" y="198120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486581"/>
                </a:solidFill>
              </a:ln>
            </p:spPr>
          </p:sp>
          <p:sp>
            <p:nvSpPr>
              <p:cNvPr id="18" name="Line 18"/>
              <p:cNvSpPr/>
              <p:nvPr/>
            </p:nvSpPr>
            <p:spPr>
              <a:xfrm>
                <a:off x="3390900" y="247650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486581"/>
                </a:solidFill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3390900" y="2971800"/>
                <a:ext cx="381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81000" h="9525">
                    <a:moveTo>
                      <a:pt x="0" y="0"/>
                    </a:moveTo>
                    <a:lnTo>
                      <a:pt x="381000" y="0"/>
                    </a:lnTo>
                  </a:path>
                </a:pathLst>
              </a:custGeom>
              <a:noFill/>
              <a:ln w="19050">
                <a:solidFill>
                  <a:srgbClr val="486581"/>
                </a:solidFill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3771900" y="1485900"/>
                <a:ext cx="9525" cy="14859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85900">
                    <a:moveTo>
                      <a:pt x="0" y="0"/>
                    </a:moveTo>
                    <a:lnTo>
                      <a:pt x="0" y="1485900"/>
                    </a:lnTo>
                  </a:path>
                </a:pathLst>
              </a:custGeom>
              <a:noFill/>
              <a:ln w="19050">
                <a:solidFill>
                  <a:srgbClr val="486581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3771900" y="2228850"/>
                <a:ext cx="323850" cy="1"/>
              </a:xfrm>
              <a:prstGeom prst="line">
                <a:avLst/>
              </a:prstGeom>
              <a:noFill/>
              <a:ln w="19050">
                <a:solidFill>
                  <a:srgbClr val="486581"/>
                </a:solidFill>
                <a:tailEnd type="triangle" w="lg" len="lg"/>
              </a:ln>
            </p:spPr>
          </p:sp>
        </p:grpSp>
        <p:sp>
          <p:nvSpPr>
            <p:cNvPr id="23" name="Freeform 23"/>
            <p:cNvSpPr/>
            <p:nvPr/>
          </p:nvSpPr>
          <p:spPr>
            <a:xfrm>
              <a:off x="4114800" y="1962150"/>
              <a:ext cx="1295400" cy="533400"/>
            </a:xfrm>
            <a:prstGeom prst="flowChartProcess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405798" y="214026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resolve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410200" y="2228850"/>
              <a:ext cx="400050" cy="1"/>
            </a:xfrm>
            <a:prstGeom prst="line">
              <a:avLst/>
            </a:prstGeom>
            <a:noFill/>
            <a:ln w="19050">
              <a:solidFill>
                <a:srgbClr val="486581"/>
              </a:solidFill>
              <a:tailEnd type="triangle" w="lg" len="lg"/>
            </a:ln>
          </p:spPr>
        </p:sp>
        <p:sp>
          <p:nvSpPr>
            <p:cNvPr id="26" name="Freeform 26"/>
            <p:cNvSpPr/>
            <p:nvPr/>
          </p:nvSpPr>
          <p:spPr>
            <a:xfrm>
              <a:off x="5829300" y="1809750"/>
              <a:ext cx="2514600" cy="876300"/>
            </a:xfrm>
            <a:prstGeom prst="flowChartDocument">
              <a:avLst/>
            </a:prstGeom>
            <a:solidFill>
              <a:srgbClr val="0B2A3C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27171" y="2015014"/>
              <a:ext cx="17188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memory_layout.json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53175" y="22788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120" dirty="0">
                  <a:solidFill>
                    <a:srgbClr val="9FC3D3"/>
                  </a:solidFill>
                  <a:latin typeface="+mn-lt"/>
                  <a:ea typeface="+mn-ea"/>
                  <a:cs typeface="+mn-cs"/>
                </a:rPr>
                <a:t>（配置の正本）</a:t>
              </a:r>
            </a:p>
          </p:txBody>
        </p:sp>
        <p:grpSp>
          <p:nvGrpSpPr>
            <p:cNvPr id="34" name="layout-split"/>
            <p:cNvGrpSpPr/>
            <p:nvPr/>
          </p:nvGrpSpPr>
          <p:grpSpPr>
            <a:xfrm>
              <a:off x="8343900" y="1600200"/>
              <a:ext cx="704850" cy="1257301"/>
              <a:chOff x="8343900" y="1600200"/>
              <a:chExt cx="704850" cy="1257301"/>
            </a:xfrm>
          </p:grpSpPr>
          <p:sp>
            <p:nvSpPr>
              <p:cNvPr id="29" name="Line 29"/>
              <p:cNvSpPr/>
              <p:nvPr/>
            </p:nvSpPr>
            <p:spPr>
              <a:xfrm>
                <a:off x="8343900" y="2228850"/>
                <a:ext cx="3429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9525">
                    <a:moveTo>
                      <a:pt x="0" y="0"/>
                    </a:moveTo>
                    <a:lnTo>
                      <a:pt x="342900" y="0"/>
                    </a:lnTo>
                  </a:path>
                </a:pathLst>
              </a:custGeom>
              <a:noFill/>
              <a:ln w="19050">
                <a:solidFill>
                  <a:srgbClr val="486581"/>
                </a:solidFill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8686800" y="1600200"/>
                <a:ext cx="9525" cy="1257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57300">
                    <a:moveTo>
                      <a:pt x="0" y="0"/>
                    </a:moveTo>
                    <a:lnTo>
                      <a:pt x="0" y="1257300"/>
                    </a:lnTo>
                  </a:path>
                </a:pathLst>
              </a:custGeom>
              <a:noFill/>
              <a:ln w="19050">
                <a:solidFill>
                  <a:srgbClr val="486581"/>
                </a:solidFill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8686800" y="1600200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486581"/>
                </a:solidFill>
                <a:tailEnd type="triangle" w="lg" len="lg"/>
              </a:ln>
            </p:spPr>
          </p:sp>
          <p:sp>
            <p:nvSpPr>
              <p:cNvPr id="32" name="Line 32"/>
              <p:cNvSpPr/>
              <p:nvPr/>
            </p:nvSpPr>
            <p:spPr>
              <a:xfrm>
                <a:off x="8686800" y="2228850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486581"/>
                </a:solidFill>
                <a:tailEnd type="triangle" w="lg" len="lg"/>
              </a:ln>
            </p:spPr>
          </p:sp>
          <p:sp>
            <p:nvSpPr>
              <p:cNvPr id="33" name="Line 33"/>
              <p:cNvSpPr/>
              <p:nvPr/>
            </p:nvSpPr>
            <p:spPr>
              <a:xfrm>
                <a:off x="8686800" y="2857500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486581"/>
                </a:solidFill>
                <a:tailEnd type="triangle" w="lg" len="lg"/>
              </a:ln>
            </p:spPr>
          </p:sp>
        </p:grpSp>
        <p:grpSp>
          <p:nvGrpSpPr>
            <p:cNvPr id="43" name="layout-outputs"/>
            <p:cNvGrpSpPr/>
            <p:nvPr/>
          </p:nvGrpSpPr>
          <p:grpSpPr>
            <a:xfrm>
              <a:off x="9067800" y="1409700"/>
              <a:ext cx="2590800" cy="1638300"/>
              <a:chOff x="9067800" y="1409700"/>
              <a:chExt cx="2590800" cy="1638300"/>
            </a:xfrm>
          </p:grpSpPr>
          <p:grpSp>
            <p:nvGrpSpPr>
              <p:cNvPr id="38" name="Group 38"/>
              <p:cNvGrpSpPr/>
              <p:nvPr/>
            </p:nvGrpSpPr>
            <p:grpSpPr>
              <a:xfrm>
                <a:off x="9067800" y="1409700"/>
                <a:ext cx="2590800" cy="1638300"/>
                <a:chOff x="9067800" y="1409700"/>
                <a:chExt cx="2590800" cy="1638300"/>
              </a:xfrm>
            </p:grpSpPr>
            <p:sp>
              <p:nvSpPr>
                <p:cNvPr id="35" name="Rectangle 35"/>
                <p:cNvSpPr/>
                <p:nvPr/>
              </p:nvSpPr>
              <p:spPr>
                <a:xfrm>
                  <a:off x="9067800" y="1409700"/>
                  <a:ext cx="2590800" cy="381000"/>
                </a:xfrm>
                <a:prstGeom prst="rect">
                  <a:avLst/>
                </a:prstGeom>
                <a:solidFill>
                  <a:srgbClr val="E6F1F5"/>
                </a:solidFill>
                <a:ln>
                  <a:noFill/>
                </a:ln>
              </p:spPr>
            </p:sp>
            <p:sp>
              <p:nvSpPr>
                <p:cNvPr id="36" name="Rectangle 36"/>
                <p:cNvSpPr/>
                <p:nvPr/>
              </p:nvSpPr>
              <p:spPr>
                <a:xfrm>
                  <a:off x="9067800" y="2038350"/>
                  <a:ext cx="2590800" cy="381000"/>
                </a:xfrm>
                <a:prstGeom prst="rect">
                  <a:avLst/>
                </a:prstGeom>
                <a:solidFill>
                  <a:srgbClr val="E6F1F5"/>
                </a:solidFill>
                <a:ln>
                  <a:noFill/>
                </a:ln>
              </p:spPr>
            </p:sp>
            <p:sp>
              <p:nvSpPr>
                <p:cNvPr id="37" name="Rectangle 37"/>
                <p:cNvSpPr/>
                <p:nvPr/>
              </p:nvSpPr>
              <p:spPr>
                <a:xfrm>
                  <a:off x="9067800" y="2667000"/>
                  <a:ext cx="2590800" cy="381000"/>
                </a:xfrm>
                <a:prstGeom prst="rect">
                  <a:avLst/>
                </a:prstGeom>
                <a:solidFill>
                  <a:srgbClr val="E6F1F5"/>
                </a:solidFill>
                <a:ln>
                  <a:noFill/>
                </a:ln>
              </p:spPr>
            </p:sp>
          </p:grpSp>
          <p:grpSp>
            <p:nvGrpSpPr>
              <p:cNvPr id="42" name="Group 42"/>
              <p:cNvGrpSpPr/>
              <p:nvPr/>
            </p:nvGrpSpPr>
            <p:grpSpPr>
              <a:xfrm>
                <a:off x="9232392" y="1511618"/>
                <a:ext cx="1467612" cy="1521333"/>
                <a:chOff x="9232392" y="1511618"/>
                <a:chExt cx="1467612" cy="1521333"/>
              </a:xfrm>
            </p:grpSpPr>
            <p:sp>
              <p:nvSpPr>
                <p:cNvPr id="39" name="TextBox 39"/>
                <p:cNvSpPr txBox="1"/>
                <p:nvPr/>
              </p:nvSpPr>
              <p:spPr>
                <a:xfrm>
                  <a:off x="9232392" y="1511618"/>
                  <a:ext cx="1132009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ja-JP" sz="1350" b="1" dirty="0">
                      <a:solidFill>
                        <a:srgbClr val="0B2A3C"/>
                      </a:solidFill>
                      <a:latin typeface="+mn-lt"/>
                      <a:ea typeface="+mn-ea"/>
                      <a:cs typeface="+mn-cs"/>
                    </a:rPr>
                    <a:t>C++ヘッダー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9232392" y="2140268"/>
                  <a:ext cx="146761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ja-JP" sz="1350" b="1" dirty="0">
                      <a:solidFill>
                        <a:srgbClr val="0B2A3C"/>
                      </a:solidFill>
                      <a:latin typeface="+mn-lt"/>
                      <a:ea typeface="+mn-ea"/>
                      <a:cs typeface="+mn-cs"/>
                    </a:rPr>
                    <a:t>リンカスクリプト</a:t>
                  </a:r>
                </a:p>
              </p:txBody>
            </p:sp>
            <p:sp>
              <p:nvSpPr>
                <p:cNvPr id="41" name="TextBox 41"/>
                <p:cNvSpPr txBox="1"/>
                <p:nvPr/>
              </p:nvSpPr>
              <p:spPr>
                <a:xfrm>
                  <a:off x="9232392" y="2768918"/>
                  <a:ext cx="1455882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ja-JP" sz="1350" b="1" dirty="0">
                      <a:solidFill>
                        <a:srgbClr val="0B2A3C"/>
                      </a:solidFill>
                      <a:latin typeface="+mn-lt"/>
                      <a:ea typeface="+mn-ea"/>
                      <a:cs typeface="+mn-cs"/>
                    </a:rPr>
                    <a:t>YAML（確認用）</a:t>
                  </a:r>
                </a:p>
              </p:txBody>
            </p:sp>
          </p:grpSp>
        </p:grpSp>
      </p:grpSp>
      <p:grpSp>
        <p:nvGrpSpPr>
          <p:cNvPr id="53" name="layout-points"/>
          <p:cNvGrpSpPr/>
          <p:nvPr/>
        </p:nvGrpSpPr>
        <p:grpSpPr>
          <a:xfrm>
            <a:off x="533400" y="3752850"/>
            <a:ext cx="11220505" cy="1207770"/>
            <a:chOff x="533400" y="3752850"/>
            <a:chExt cx="11220505" cy="1207770"/>
          </a:xfrm>
        </p:grpSpPr>
        <p:grpSp>
          <p:nvGrpSpPr>
            <p:cNvPr id="48" name="Group 48"/>
            <p:cNvGrpSpPr/>
            <p:nvPr/>
          </p:nvGrpSpPr>
          <p:grpSpPr>
            <a:xfrm>
              <a:off x="533400" y="3790950"/>
              <a:ext cx="95250" cy="1009650"/>
              <a:chOff x="533400" y="3790950"/>
              <a:chExt cx="95250" cy="10096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533400" y="3790950"/>
                <a:ext cx="95250" cy="95250"/>
              </a:xfrm>
              <a:prstGeom prst="rect">
                <a:avLst/>
              </a:prstGeom>
              <a:solidFill>
                <a:srgbClr val="0B6E8E"/>
              </a:solidFill>
              <a:ln>
                <a:noFill/>
              </a:ln>
            </p:spPr>
          </p:sp>
          <p:sp>
            <p:nvSpPr>
              <p:cNvPr id="46" name="Rectangle 46"/>
              <p:cNvSpPr/>
              <p:nvPr/>
            </p:nvSpPr>
            <p:spPr>
              <a:xfrm>
                <a:off x="533400" y="4248150"/>
                <a:ext cx="95250" cy="95250"/>
              </a:xfrm>
              <a:prstGeom prst="rect">
                <a:avLst/>
              </a:prstGeom>
              <a:solidFill>
                <a:srgbClr val="0B6E8E"/>
              </a:solidFill>
              <a:ln>
                <a:noFill/>
              </a:ln>
            </p:spPr>
          </p:sp>
          <p:sp>
            <p:nvSpPr>
              <p:cNvPr id="47" name="Rectangle 47"/>
              <p:cNvSpPr/>
              <p:nvPr/>
            </p:nvSpPr>
            <p:spPr>
              <a:xfrm>
                <a:off x="533400" y="4705350"/>
                <a:ext cx="95250" cy="95250"/>
              </a:xfrm>
              <a:prstGeom prst="rect">
                <a:avLst/>
              </a:prstGeom>
              <a:solidFill>
                <a:srgbClr val="0B6E8E"/>
              </a:solidFill>
              <a:ln>
                <a:noFill/>
              </a:ln>
            </p:spPr>
          </p:sp>
        </p:grpSp>
        <p:grpSp>
          <p:nvGrpSpPr>
            <p:cNvPr id="52" name="Group 52"/>
            <p:cNvGrpSpPr/>
            <p:nvPr/>
          </p:nvGrpSpPr>
          <p:grpSpPr>
            <a:xfrm>
              <a:off x="792480" y="3752850"/>
              <a:ext cx="10961425" cy="1207770"/>
              <a:chOff x="792480" y="3752850"/>
              <a:chExt cx="10961425" cy="1207770"/>
            </a:xfrm>
          </p:grpSpPr>
          <p:sp>
            <p:nvSpPr>
              <p:cNvPr id="49" name="TextBox 49"/>
              <p:cNvSpPr txBox="1"/>
              <p:nvPr/>
            </p:nvSpPr>
            <p:spPr>
              <a:xfrm>
                <a:off x="792480" y="3752850"/>
                <a:ext cx="993162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ボード定義、アプリのバッファ要求、モデルの生成物（入出力テンソル、NPUコマンドのサイズ）を読み込む</a:t>
                </a: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92480" y="4210050"/>
                <a:ext cx="1096142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フレームバッファやNPUコマンド領域を配置し、C++ヘッダーを生成して、ベースのリンカスクリプトに配置を書き込む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792480" y="4667250"/>
                <a:ext cx="6096355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生成物はCMakeのビルドに直接つながり、手で書き写す必要がない</a:t>
                </a:r>
              </a:p>
            </p:txBody>
          </p:sp>
        </p:grpSp>
      </p:grpSp>
      <p:grpSp>
        <p:nvGrpSpPr>
          <p:cNvPr id="57" name="layout-takeaway"/>
          <p:cNvGrpSpPr/>
          <p:nvPr/>
        </p:nvGrpSpPr>
        <p:grpSpPr>
          <a:xfrm>
            <a:off x="533400" y="5295900"/>
            <a:ext cx="11125200" cy="533400"/>
            <a:chOff x="533400" y="5295900"/>
            <a:chExt cx="11125200" cy="533400"/>
          </a:xfrm>
        </p:grpSpPr>
        <p:sp>
          <p:nvSpPr>
            <p:cNvPr id="54" name="Rectangle 54"/>
            <p:cNvSpPr/>
            <p:nvPr/>
          </p:nvSpPr>
          <p:spPr>
            <a:xfrm>
              <a:off x="533400" y="5295900"/>
              <a:ext cx="11125200" cy="533400"/>
            </a:xfrm>
            <a:prstGeom prst="rect">
              <a:avLst/>
            </a:prstGeom>
            <a:solidFill>
              <a:srgbClr val="E6F1F5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533400" y="5295900"/>
              <a:ext cx="57150" cy="53340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92480" y="5467350"/>
              <a:ext cx="710460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領域の重なり、容量不足、NPUコマンドの枠あふれを</a:t>
              </a:r>
              <a:r>
                <a:rPr lang="ja-JP" sz="1500" b="1" dirty="0">
                  <a:solidFill>
                    <a:srgbClr val="0B6E8E"/>
                  </a:solidFill>
                  <a:latin typeface="+mn-lt"/>
                  <a:ea typeface="+mn-ea"/>
                  <a:cs typeface="+mn-cs"/>
                </a:rPr>
                <a:t>ビルド時にエラーにする</a:t>
              </a:r>
            </a:p>
          </p:txBody>
        </p:sp>
      </p:grpSp>
      <p:grpSp>
        <p:nvGrpSpPr>
          <p:cNvPr id="60" name="footer"/>
          <p:cNvGrpSpPr/>
          <p:nvPr/>
        </p:nvGrpSpPr>
        <p:grpSpPr>
          <a:xfrm>
            <a:off x="528066" y="6535102"/>
            <a:ext cx="11135868" cy="205359"/>
            <a:chOff x="528066" y="6535102"/>
            <a:chExt cx="11135868" cy="205359"/>
          </a:xfrm>
        </p:grpSpPr>
        <p:sp>
          <p:nvSpPr>
            <p:cNvPr id="58" name="TextBox 58"/>
            <p:cNvSpPr txBox="1"/>
            <p:nvPr/>
          </p:nvSpPr>
          <p:spPr>
            <a:xfrm>
              <a:off x="528066" y="6535102"/>
              <a:ext cx="689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μAI-Studio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500861" y="6535102"/>
              <a:ext cx="16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33400" y="533400"/>
            <a:ext cx="7611725" cy="528257"/>
            <a:chOff x="533400" y="533400"/>
            <a:chExt cx="7611725" cy="528257"/>
          </a:xfrm>
        </p:grpSpPr>
        <p:sp>
          <p:nvSpPr>
            <p:cNvPr id="2" name="Rectangle 2"/>
            <p:cNvSpPr/>
            <p:nvPr/>
          </p:nvSpPr>
          <p:spPr>
            <a:xfrm>
              <a:off x="533400" y="533400"/>
              <a:ext cx="57150" cy="361950"/>
            </a:xfrm>
            <a:prstGeom prst="rect">
              <a:avLst/>
            </a:prstGeom>
            <a:solidFill>
              <a:srgbClr val="829AB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996" y="562928"/>
              <a:ext cx="741512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5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課題3：NPU推論とRTOSをどう組み合わせるか</a:t>
              </a:r>
            </a:p>
          </p:txBody>
        </p:sp>
      </p:grpSp>
      <p:grpSp>
        <p:nvGrpSpPr>
          <p:cNvPr id="19" name="pain-marker"/>
          <p:cNvGrpSpPr/>
          <p:nvPr/>
        </p:nvGrpSpPr>
        <p:grpSpPr>
          <a:xfrm>
            <a:off x="533400" y="1295400"/>
            <a:ext cx="2857500" cy="4572000"/>
            <a:chOff x="533400" y="1295400"/>
            <a:chExt cx="2857500" cy="4572000"/>
          </a:xfrm>
        </p:grpSpPr>
        <p:sp>
          <p:nvSpPr>
            <p:cNvPr id="5" name="Rectangle 5"/>
            <p:cNvSpPr/>
            <p:nvPr/>
          </p:nvSpPr>
          <p:spPr>
            <a:xfrm>
              <a:off x="533400" y="1295400"/>
              <a:ext cx="2857500" cy="4572000"/>
            </a:xfrm>
            <a:prstGeom prst="rect">
              <a:avLst/>
            </a:prstGeom>
            <a:solidFill>
              <a:srgbClr val="E4E9E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0580" y="17049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rgbClr val="627D98"/>
                  </a:solidFill>
                  <a:latin typeface="+mn-lt"/>
                  <a:ea typeface="+mn-ea"/>
                  <a:cs typeface="+mn-cs"/>
                </a:rPr>
                <a:t>課題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81050" y="2171700"/>
              <a:ext cx="1431902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9000" b="1" dirty="0">
                  <a:solidFill>
                    <a:srgbClr val="627D9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942975" y="4486275"/>
              <a:ext cx="628651" cy="628651"/>
              <a:chOff x="942975" y="4486275"/>
              <a:chExt cx="628651" cy="62865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12825" y="4556125"/>
                <a:ext cx="488950" cy="488950"/>
              </a:xfrm>
              <a:custGeom>
                <a:avLst/>
                <a:gdLst/>
                <a:ahLst/>
                <a:cxnLst/>
                <a:rect l="l" t="t" r="r" b="b"/>
                <a:pathLst>
                  <a:path w="488950" h="488950">
                    <a:moveTo>
                      <a:pt x="0" y="34925"/>
                    </a:moveTo>
                    <a:cubicBezTo>
                      <a:pt x="0" y="15636"/>
                      <a:pt x="15636" y="0"/>
                      <a:pt x="34925" y="0"/>
                    </a:cubicBezTo>
                    <a:lnTo>
                      <a:pt x="454025" y="0"/>
                    </a:lnTo>
                    <a:cubicBezTo>
                      <a:pt x="473314" y="0"/>
                      <a:pt x="488950" y="15636"/>
                      <a:pt x="488950" y="34925"/>
                    </a:cubicBezTo>
                    <a:lnTo>
                      <a:pt x="488950" y="454025"/>
                    </a:lnTo>
                    <a:cubicBezTo>
                      <a:pt x="488950" y="473314"/>
                      <a:pt x="473314" y="488950"/>
                      <a:pt x="454025" y="488950"/>
                    </a:cubicBezTo>
                    <a:lnTo>
                      <a:pt x="34925" y="488950"/>
                    </a:lnTo>
                    <a:cubicBezTo>
                      <a:pt x="15636" y="488950"/>
                      <a:pt x="0" y="473314"/>
                      <a:pt x="0" y="454025"/>
                    </a:cubicBezTo>
                    <a:lnTo>
                      <a:pt x="0" y="34925"/>
                    </a:lnTo>
                  </a:path>
                </a:pathLst>
              </a:custGeom>
              <a:noFill/>
              <a:ln w="52388">
                <a:solidFill>
                  <a:srgbClr val="627D98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52525" y="4695825"/>
                <a:ext cx="20955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209550">
                    <a:moveTo>
                      <a:pt x="0" y="0"/>
                    </a:moveTo>
                    <a:lnTo>
                      <a:pt x="209550" y="0"/>
                    </a:lnTo>
                    <a:lnTo>
                      <a:pt x="209550" y="209550"/>
                    </a:lnTo>
                    <a:lnTo>
                      <a:pt x="0" y="209550"/>
                    </a:lnTo>
                    <a:lnTo>
                      <a:pt x="0" y="0"/>
                    </a:lnTo>
                  </a:path>
                </a:pathLst>
              </a:custGeom>
              <a:noFill/>
              <a:ln w="52388">
                <a:solidFill>
                  <a:srgbClr val="627D98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42975" y="4730750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52388">
                <a:solidFill>
                  <a:srgbClr val="627D98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42975" y="4870450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0" y="0"/>
                    </a:moveTo>
                    <a:lnTo>
                      <a:pt x="69850" y="0"/>
                    </a:lnTo>
                  </a:path>
                </a:pathLst>
              </a:custGeom>
              <a:noFill/>
              <a:ln w="52388">
                <a:solidFill>
                  <a:srgbClr val="627D98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87450" y="4486275"/>
                <a:ext cx="95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9850">
                    <a:moveTo>
                      <a:pt x="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52388">
                <a:solidFill>
                  <a:srgbClr val="627D9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327150" y="4486275"/>
                <a:ext cx="95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9850">
                    <a:moveTo>
                      <a:pt x="0" y="0"/>
                    </a:moveTo>
                    <a:lnTo>
                      <a:pt x="0" y="69850"/>
                    </a:lnTo>
                  </a:path>
                </a:pathLst>
              </a:custGeom>
              <a:noFill/>
              <a:ln w="52388">
                <a:solidFill>
                  <a:srgbClr val="627D9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501776" y="4730750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69850" y="0"/>
                    </a:moveTo>
                    <a:lnTo>
                      <a:pt x="0" y="0"/>
                    </a:lnTo>
                  </a:path>
                </a:pathLst>
              </a:custGeom>
              <a:noFill/>
              <a:ln w="52388">
                <a:solidFill>
                  <a:srgbClr val="627D9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501776" y="4870450"/>
                <a:ext cx="69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9850" h="9525">
                    <a:moveTo>
                      <a:pt x="69850" y="0"/>
                    </a:moveTo>
                    <a:lnTo>
                      <a:pt x="0" y="0"/>
                    </a:lnTo>
                  </a:path>
                </a:pathLst>
              </a:custGeom>
              <a:noFill/>
              <a:ln w="52388">
                <a:solidFill>
                  <a:srgbClr val="627D9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327150" y="5045076"/>
                <a:ext cx="95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9850">
                    <a:moveTo>
                      <a:pt x="0" y="69850"/>
                    </a:moveTo>
                    <a:lnTo>
                      <a:pt x="0" y="0"/>
                    </a:lnTo>
                  </a:path>
                </a:pathLst>
              </a:custGeom>
              <a:noFill/>
              <a:ln w="52388">
                <a:solidFill>
                  <a:srgbClr val="627D9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187450" y="5045076"/>
                <a:ext cx="9525" cy="69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9850">
                    <a:moveTo>
                      <a:pt x="0" y="69850"/>
                    </a:moveTo>
                    <a:lnTo>
                      <a:pt x="0" y="0"/>
                    </a:lnTo>
                  </a:path>
                </a:pathLst>
              </a:custGeom>
              <a:noFill/>
              <a:ln w="52388">
                <a:solidFill>
                  <a:srgbClr val="627D98"/>
                </a:solidFill>
              </a:ln>
            </p:spPr>
          </p:sp>
        </p:grpSp>
      </p:grpSp>
      <p:grpSp>
        <p:nvGrpSpPr>
          <p:cNvPr id="31" name="pain-points"/>
          <p:cNvGrpSpPr/>
          <p:nvPr/>
        </p:nvGrpSpPr>
        <p:grpSpPr>
          <a:xfrm>
            <a:off x="3810000" y="1939290"/>
            <a:ext cx="7848600" cy="3400044"/>
            <a:chOff x="3810000" y="1939290"/>
            <a:chExt cx="7848600" cy="3400044"/>
          </a:xfrm>
        </p:grpSpPr>
        <p:grpSp>
          <p:nvGrpSpPr>
            <p:cNvPr id="22" name="Group 22"/>
            <p:cNvGrpSpPr/>
            <p:nvPr/>
          </p:nvGrpSpPr>
          <p:grpSpPr>
            <a:xfrm>
              <a:off x="3810000" y="2819400"/>
              <a:ext cx="7848600" cy="1533525"/>
              <a:chOff x="3810000" y="2819400"/>
              <a:chExt cx="7848600" cy="1533525"/>
            </a:xfrm>
          </p:grpSpPr>
          <p:sp>
            <p:nvSpPr>
              <p:cNvPr id="20" name="Line 20"/>
              <p:cNvSpPr/>
              <p:nvPr/>
            </p:nvSpPr>
            <p:spPr>
              <a:xfrm>
                <a:off x="3810000" y="2819400"/>
                <a:ext cx="784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848600" h="9525">
                    <a:moveTo>
                      <a:pt x="0" y="0"/>
                    </a:moveTo>
                    <a:lnTo>
                      <a:pt x="7848600" y="0"/>
                    </a:lnTo>
                  </a:path>
                </a:pathLst>
              </a:custGeom>
              <a:noFill/>
              <a:ln w="9525">
                <a:solidFill>
                  <a:srgbClr val="D9E2EC"/>
                </a:solidFill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3810000" y="4343400"/>
                <a:ext cx="784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848600" h="9525">
                    <a:moveTo>
                      <a:pt x="0" y="0"/>
                    </a:moveTo>
                    <a:lnTo>
                      <a:pt x="7848600" y="0"/>
                    </a:lnTo>
                  </a:path>
                </a:pathLst>
              </a:custGeom>
              <a:noFill/>
              <a:ln w="9525">
                <a:solidFill>
                  <a:srgbClr val="D9E2EC"/>
                </a:solidFill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3810000" y="2000250"/>
              <a:ext cx="95250" cy="3143250"/>
              <a:chOff x="3810000" y="2000250"/>
              <a:chExt cx="95250" cy="314325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3810000" y="2000250"/>
                <a:ext cx="95250" cy="95250"/>
              </a:xfrm>
              <a:prstGeom prst="rect">
                <a:avLst/>
              </a:prstGeom>
              <a:solidFill>
                <a:srgbClr val="627D98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3810000" y="3524250"/>
                <a:ext cx="95250" cy="95250"/>
              </a:xfrm>
              <a:prstGeom prst="rect">
                <a:avLst/>
              </a:prstGeom>
              <a:solidFill>
                <a:srgbClr val="627D98"/>
              </a:solidFill>
              <a:ln>
                <a:noFill/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3810000" y="5048250"/>
                <a:ext cx="95250" cy="95250"/>
              </a:xfrm>
              <a:prstGeom prst="rect">
                <a:avLst/>
              </a:prstGeom>
              <a:solidFill>
                <a:srgbClr val="627D98"/>
              </a:solidFill>
              <a:ln>
                <a:noFill/>
              </a:ln>
            </p:spPr>
          </p:sp>
        </p:grpSp>
        <p:grpSp>
          <p:nvGrpSpPr>
            <p:cNvPr id="30" name="Group 30"/>
            <p:cNvGrpSpPr/>
            <p:nvPr/>
          </p:nvGrpSpPr>
          <p:grpSpPr>
            <a:xfrm>
              <a:off x="4067556" y="1939290"/>
              <a:ext cx="5591556" cy="3400044"/>
              <a:chOff x="4067556" y="1939290"/>
              <a:chExt cx="5591556" cy="3400044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4067556" y="1939290"/>
                <a:ext cx="4883960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80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NPUの完了を待つ間、CPUを遊ばせたくない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4067556" y="3463290"/>
                <a:ext cx="5591556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80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推論が遅れても、カメラ映像の表示は止めたくない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067556" y="4987290"/>
                <a:ext cx="34107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80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複数のモデルを同時に扱いたい</a:t>
                </a:r>
              </a:p>
            </p:txBody>
          </p:sp>
        </p:grpSp>
      </p:grpSp>
      <p:grpSp>
        <p:nvGrpSpPr>
          <p:cNvPr id="34" name="footer"/>
          <p:cNvGrpSpPr/>
          <p:nvPr/>
        </p:nvGrpSpPr>
        <p:grpSpPr>
          <a:xfrm>
            <a:off x="528066" y="6535102"/>
            <a:ext cx="11135868" cy="205359"/>
            <a:chOff x="528066" y="6535102"/>
            <a:chExt cx="11135868" cy="205359"/>
          </a:xfrm>
        </p:grpSpPr>
        <p:sp>
          <p:nvSpPr>
            <p:cNvPr id="32" name="TextBox 32"/>
            <p:cNvSpPr txBox="1"/>
            <p:nvPr/>
          </p:nvSpPr>
          <p:spPr>
            <a:xfrm>
              <a:off x="528066" y="6535102"/>
              <a:ext cx="689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μAI-Studio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500861" y="6535102"/>
              <a:ext cx="16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33400" y="533400"/>
            <a:ext cx="6162511" cy="528257"/>
            <a:chOff x="533400" y="533400"/>
            <a:chExt cx="6162511" cy="528257"/>
          </a:xfrm>
        </p:grpSpPr>
        <p:sp>
          <p:nvSpPr>
            <p:cNvPr id="2" name="Rectangle 2"/>
            <p:cNvSpPr/>
            <p:nvPr/>
          </p:nvSpPr>
          <p:spPr>
            <a:xfrm>
              <a:off x="533400" y="533400"/>
              <a:ext cx="57150" cy="36195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996" y="562928"/>
              <a:ext cx="596591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5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解決3：μT-Kernel向けAIミドルウェア</a:t>
              </a:r>
            </a:p>
          </p:txBody>
        </p:sp>
      </p:grpSp>
      <p:grpSp>
        <p:nvGrpSpPr>
          <p:cNvPr id="29" name="pipeline-diagram"/>
          <p:cNvGrpSpPr/>
          <p:nvPr/>
        </p:nvGrpSpPr>
        <p:grpSpPr>
          <a:xfrm>
            <a:off x="533400" y="1428750"/>
            <a:ext cx="11010900" cy="1997678"/>
            <a:chOff x="533400" y="1428750"/>
            <a:chExt cx="11010900" cy="1997678"/>
          </a:xfrm>
        </p:grpSpPr>
        <p:sp>
          <p:nvSpPr>
            <p:cNvPr id="5" name="Rectangle 5"/>
            <p:cNvSpPr/>
            <p:nvPr/>
          </p:nvSpPr>
          <p:spPr>
            <a:xfrm>
              <a:off x="533400" y="1962150"/>
              <a:ext cx="1143000" cy="457200"/>
            </a:xfrm>
            <a:prstGeom prst="rect">
              <a:avLst/>
            </a:prstGeom>
            <a:solidFill>
              <a:srgbClr val="102A43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10920" y="210359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カメラ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676400" y="1619250"/>
              <a:ext cx="3257550" cy="1143001"/>
              <a:chOff x="1676400" y="1619250"/>
              <a:chExt cx="3257550" cy="1143001"/>
            </a:xfrm>
          </p:grpSpPr>
          <p:sp>
            <p:nvSpPr>
              <p:cNvPr id="7" name="Line 7"/>
              <p:cNvSpPr/>
              <p:nvPr/>
            </p:nvSpPr>
            <p:spPr>
              <a:xfrm>
                <a:off x="1676400" y="2190750"/>
                <a:ext cx="3238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23850" h="9525">
                    <a:moveTo>
                      <a:pt x="0" y="0"/>
                    </a:moveTo>
                    <a:lnTo>
                      <a:pt x="323850" y="0"/>
                    </a:lnTo>
                  </a:path>
                </a:pathLst>
              </a:custGeom>
              <a:noFill/>
              <a:ln w="19050">
                <a:solidFill>
                  <a:srgbClr val="486581"/>
                </a:solidFill>
              </a:ln>
            </p:spPr>
          </p:sp>
          <p:sp>
            <p:nvSpPr>
              <p:cNvPr id="8" name="Line 8"/>
              <p:cNvSpPr/>
              <p:nvPr/>
            </p:nvSpPr>
            <p:spPr>
              <a:xfrm>
                <a:off x="2000250" y="1619250"/>
                <a:ext cx="9525" cy="1143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0">
                    <a:moveTo>
                      <a:pt x="0" y="0"/>
                    </a:moveTo>
                    <a:lnTo>
                      <a:pt x="0" y="1143000"/>
                    </a:lnTo>
                  </a:path>
                </a:pathLst>
              </a:custGeom>
              <a:noFill/>
              <a:ln w="19050">
                <a:solidFill>
                  <a:srgbClr val="486581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2000250" y="1619250"/>
                <a:ext cx="171450" cy="1"/>
              </a:xfrm>
              <a:prstGeom prst="line">
                <a:avLst/>
              </a:prstGeom>
              <a:noFill/>
              <a:ln w="19050">
                <a:solidFill>
                  <a:srgbClr val="486581"/>
                </a:solidFill>
                <a:tailEnd type="triangle" w="lg" len="lg"/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2000250" y="2762250"/>
                <a:ext cx="171450" cy="1"/>
              </a:xfrm>
              <a:prstGeom prst="line">
                <a:avLst/>
              </a:prstGeom>
              <a:noFill/>
              <a:ln w="19050">
                <a:solidFill>
                  <a:srgbClr val="486581"/>
                </a:solidFill>
                <a:tailEnd type="triangle" w="lg" len="lg"/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3238500" y="1619250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486581"/>
                </a:solidFill>
                <a:tailEnd type="triangle" w="lg" len="lg"/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4572000" y="2762250"/>
                <a:ext cx="361950" cy="1"/>
              </a:xfrm>
              <a:prstGeom prst="line">
                <a:avLst/>
              </a:prstGeom>
              <a:noFill/>
              <a:ln w="19050">
                <a:solidFill>
                  <a:srgbClr val="486581"/>
                </a:solidFill>
                <a:tailEnd type="triangle" w="lg" len="lg"/>
              </a:ln>
            </p:spPr>
          </p:sp>
        </p:grpSp>
        <p:sp>
          <p:nvSpPr>
            <p:cNvPr id="14" name="Rectangle 14"/>
            <p:cNvSpPr/>
            <p:nvPr/>
          </p:nvSpPr>
          <p:spPr>
            <a:xfrm>
              <a:off x="2190750" y="1428750"/>
              <a:ext cx="1047750" cy="381000"/>
            </a:xfrm>
            <a:prstGeom prst="roundRect">
              <a:avLst>
                <a:gd name="adj" fmla="val 10000"/>
              </a:avLst>
            </a:prstGeom>
            <a:solidFill>
              <a:srgbClr val="0B2A3C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3619500" y="1428750"/>
              <a:ext cx="3143250" cy="381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CCCDC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190750" y="2571750"/>
              <a:ext cx="2381250" cy="381000"/>
            </a:xfrm>
            <a:prstGeom prst="roundRect">
              <a:avLst>
                <a:gd name="adj" fmla="val 10000"/>
              </a:avLst>
            </a:prstGeom>
            <a:solidFill>
              <a:srgbClr val="0B2A3C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2355342" y="1530668"/>
              <a:ext cx="2149960" cy="1407033"/>
              <a:chOff x="2355342" y="1530668"/>
              <a:chExt cx="2149960" cy="1407033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2355342" y="1530668"/>
                <a:ext cx="49933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Pipe1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355342" y="2673668"/>
                <a:ext cx="214996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Pipe2（DCMIPPで縮小）</a:t>
                </a:r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3784092" y="1530668"/>
              <a:ext cx="23567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LCD表示（推論を待たない）</a:t>
              </a:r>
            </a:p>
          </p:txBody>
        </p:sp>
        <p:sp>
          <p:nvSpPr>
            <p:cNvPr id="21" name="Freeform 21"/>
            <p:cNvSpPr/>
            <p:nvPr/>
          </p:nvSpPr>
          <p:spPr>
            <a:xfrm>
              <a:off x="4953000" y="2495550"/>
              <a:ext cx="2324100" cy="533400"/>
            </a:xfrm>
            <a:prstGeom prst="chevron">
              <a:avLst/>
            </a:prstGeom>
            <a:solidFill>
              <a:srgbClr val="DCEBF1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7086600" y="2495550"/>
              <a:ext cx="2324100" cy="533400"/>
            </a:xfrm>
            <a:prstGeom prst="chevron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9220200" y="2495550"/>
              <a:ext cx="2324100" cy="533400"/>
            </a:xfrm>
            <a:prstGeom prst="chevron">
              <a:avLst/>
            </a:prstGeom>
            <a:solidFill>
              <a:srgbClr val="DCEBF1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5696331" y="2673668"/>
              <a:ext cx="5371338" cy="264033"/>
              <a:chOff x="5696331" y="2673668"/>
              <a:chExt cx="5371338" cy="264033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5696331" y="26736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350" b="1" dirty="0">
                    <a:solidFill>
                      <a:srgbClr val="0B2A3C"/>
                    </a:solidFill>
                    <a:latin typeface="+mn-lt"/>
                    <a:ea typeface="+mn-ea"/>
                    <a:cs typeface="+mn-cs"/>
                  </a:rPr>
                  <a:t>前処理タスク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898281" y="2673668"/>
                <a:ext cx="96743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NPUタスク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9963531" y="2673668"/>
                <a:ext cx="1104138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350" b="1" dirty="0">
                    <a:solidFill>
                      <a:srgbClr val="0B2A3C"/>
                    </a:solidFill>
                    <a:latin typeface="+mn-lt"/>
                    <a:ea typeface="+mn-ea"/>
                    <a:cs typeface="+mn-cs"/>
                  </a:rPr>
                  <a:t>後処理タスク</a:t>
                </a:r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6427943" y="3177064"/>
              <a:ext cx="36414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280" dirty="0">
                  <a:solidFill>
                    <a:srgbClr val="486581"/>
                  </a:solidFill>
                  <a:latin typeface="+mn-lt"/>
                  <a:ea typeface="+mn-ea"/>
                  <a:cs typeface="+mn-cs"/>
                </a:rPr>
                <a:t>person / face / segmentation を流れ作業で処理</a:t>
              </a:r>
            </a:p>
          </p:txBody>
        </p:sp>
      </p:grpSp>
      <p:grpSp>
        <p:nvGrpSpPr>
          <p:cNvPr id="34" name="feature-runtime"/>
          <p:cNvGrpSpPr/>
          <p:nvPr/>
        </p:nvGrpSpPr>
        <p:grpSpPr>
          <a:xfrm>
            <a:off x="533400" y="3581400"/>
            <a:ext cx="5467350" cy="1181100"/>
            <a:chOff x="533400" y="3581400"/>
            <a:chExt cx="5467350" cy="1181100"/>
          </a:xfrm>
        </p:grpSpPr>
        <p:sp>
          <p:nvSpPr>
            <p:cNvPr id="30" name="Rectangle 30"/>
            <p:cNvSpPr/>
            <p:nvPr/>
          </p:nvSpPr>
          <p:spPr>
            <a:xfrm>
              <a:off x="533400" y="3581400"/>
              <a:ext cx="5467350" cy="1181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581400"/>
              <a:ext cx="5467350" cy="28575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4380" y="37623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rgbClr val="0B6E8E"/>
                  </a:solidFill>
                  <a:latin typeface="+mn-lt"/>
                  <a:ea typeface="+mn-ea"/>
                  <a:cs typeface="+mn-cs"/>
                </a:rPr>
                <a:t>パイプラインランタイム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5523" y="4110514"/>
              <a:ext cx="3891847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ja-JP" sz="128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NPUの実行中も、CPUは別モデルの前処理や後処理を</a:t>
              </a:r>
              <a:br/>
              <a:r>
                <a:rPr lang="ja-JP" sz="128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進める（コアはホストPCでテスト可能）</a:t>
              </a:r>
            </a:p>
          </p:txBody>
        </p:sp>
      </p:grpSp>
      <p:grpSp>
        <p:nvGrpSpPr>
          <p:cNvPr id="39" name="feature-ownership"/>
          <p:cNvGrpSpPr/>
          <p:nvPr/>
        </p:nvGrpSpPr>
        <p:grpSpPr>
          <a:xfrm>
            <a:off x="6191250" y="3581400"/>
            <a:ext cx="5467350" cy="1181100"/>
            <a:chOff x="6191250" y="3581400"/>
            <a:chExt cx="5467350" cy="1181100"/>
          </a:xfrm>
        </p:grpSpPr>
        <p:sp>
          <p:nvSpPr>
            <p:cNvPr id="35" name="Rectangle 35"/>
            <p:cNvSpPr/>
            <p:nvPr/>
          </p:nvSpPr>
          <p:spPr>
            <a:xfrm>
              <a:off x="6191250" y="3581400"/>
              <a:ext cx="5467350" cy="1181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191250" y="3581400"/>
              <a:ext cx="5467350" cy="28575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12230" y="37623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rgbClr val="0B6E8E"/>
                  </a:solidFill>
                  <a:latin typeface="+mn-lt"/>
                  <a:ea typeface="+mn-ea"/>
                  <a:cs typeface="+mn-cs"/>
                </a:rPr>
                <a:t>バッファの所有権管理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13373" y="4110514"/>
              <a:ext cx="3594996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ja-JP" sz="128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カメラDMA、LCD、推論のどれが使っているかを</a:t>
              </a:r>
              <a:br/>
              <a:r>
                <a:rPr lang="ja-JP" sz="128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固定プールで管理する</a:t>
              </a:r>
            </a:p>
          </p:txBody>
        </p:sp>
      </p:grpSp>
      <p:grpSp>
        <p:nvGrpSpPr>
          <p:cNvPr id="44" name="feature-resizer"/>
          <p:cNvGrpSpPr/>
          <p:nvPr/>
        </p:nvGrpSpPr>
        <p:grpSpPr>
          <a:xfrm>
            <a:off x="533400" y="4914900"/>
            <a:ext cx="5467350" cy="1181100"/>
            <a:chOff x="533400" y="4914900"/>
            <a:chExt cx="5467350" cy="1181100"/>
          </a:xfrm>
        </p:grpSpPr>
        <p:sp>
          <p:nvSpPr>
            <p:cNvPr id="40" name="Rectangle 40"/>
            <p:cNvSpPr/>
            <p:nvPr/>
          </p:nvSpPr>
          <p:spPr>
            <a:xfrm>
              <a:off x="533400" y="4914900"/>
              <a:ext cx="5467350" cy="1181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914900"/>
              <a:ext cx="5467350" cy="28575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4380" y="5095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rgbClr val="0B6E8E"/>
                  </a:solidFill>
                  <a:latin typeface="+mn-lt"/>
                  <a:ea typeface="+mn-ea"/>
                  <a:cs typeface="+mn-cs"/>
                </a:rPr>
                <a:t>画像縮小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5523" y="5444014"/>
              <a:ext cx="3579780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ja-JP" sz="128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NPU入力の縮小と余白付きの配置（letterbox）を</a:t>
              </a:r>
              <a:br/>
              <a:r>
                <a:rPr lang="ja-JP" sz="128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DCMIPPで行い、CPUでの縮小を減らす</a:t>
              </a:r>
            </a:p>
          </p:txBody>
        </p:sp>
      </p:grpSp>
      <p:grpSp>
        <p:nvGrpSpPr>
          <p:cNvPr id="49" name="feature-exclusive"/>
          <p:cNvGrpSpPr/>
          <p:nvPr/>
        </p:nvGrpSpPr>
        <p:grpSpPr>
          <a:xfrm>
            <a:off x="6191250" y="4914900"/>
            <a:ext cx="5467350" cy="1181100"/>
            <a:chOff x="6191250" y="4914900"/>
            <a:chExt cx="5467350" cy="1181100"/>
          </a:xfrm>
        </p:grpSpPr>
        <p:sp>
          <p:nvSpPr>
            <p:cNvPr id="45" name="Rectangle 45"/>
            <p:cNvSpPr/>
            <p:nvPr/>
          </p:nvSpPr>
          <p:spPr>
            <a:xfrm>
              <a:off x="6191250" y="4914900"/>
              <a:ext cx="5467350" cy="11811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191250" y="4914900"/>
              <a:ext cx="5467350" cy="28575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12230" y="50958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rgbClr val="0B6E8E"/>
                  </a:solidFill>
                  <a:latin typeface="+mn-lt"/>
                  <a:ea typeface="+mn-ea"/>
                  <a:cs typeface="+mn-cs"/>
                </a:rPr>
                <a:t>ドライバの排他制御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13373" y="5444014"/>
              <a:ext cx="3351790" cy="5160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ja-JP" sz="128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ハードウェアごとに書き込み権を1つに限り、</a:t>
              </a:r>
              <a:br/>
              <a:r>
                <a:rPr lang="ja-JP" sz="128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タスク間の競合を防ぐ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066" y="6535102"/>
            <a:ext cx="11135868" cy="205359"/>
            <a:chOff x="528066" y="6535102"/>
            <a:chExt cx="11135868" cy="205359"/>
          </a:xfrm>
        </p:grpSpPr>
        <p:sp>
          <p:nvSpPr>
            <p:cNvPr id="50" name="TextBox 50"/>
            <p:cNvSpPr txBox="1"/>
            <p:nvPr/>
          </p:nvSpPr>
          <p:spPr>
            <a:xfrm>
              <a:off x="528066" y="6535102"/>
              <a:ext cx="689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μAI-Studio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0861" y="6535102"/>
              <a:ext cx="16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33400" y="533400"/>
            <a:ext cx="6942298" cy="528257"/>
            <a:chOff x="533400" y="533400"/>
            <a:chExt cx="6942298" cy="528257"/>
          </a:xfrm>
        </p:grpSpPr>
        <p:sp>
          <p:nvSpPr>
            <p:cNvPr id="2" name="Rectangle 2"/>
            <p:cNvSpPr/>
            <p:nvPr/>
          </p:nvSpPr>
          <p:spPr>
            <a:xfrm>
              <a:off x="533400" y="533400"/>
              <a:ext cx="57150" cy="361950"/>
            </a:xfrm>
            <a:prstGeom prst="rect">
              <a:avLst/>
            </a:prstGeom>
            <a:solidFill>
              <a:srgbClr val="829AB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996" y="562928"/>
              <a:ext cx="67457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5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課題4：どこで時間を使っているか見えない</a:t>
              </a:r>
            </a:p>
          </p:txBody>
        </p:sp>
      </p:grpSp>
      <p:grpSp>
        <p:nvGrpSpPr>
          <p:cNvPr id="11" name="pain-marker"/>
          <p:cNvGrpSpPr/>
          <p:nvPr/>
        </p:nvGrpSpPr>
        <p:grpSpPr>
          <a:xfrm>
            <a:off x="533400" y="1295400"/>
            <a:ext cx="2857500" cy="4572000"/>
            <a:chOff x="533400" y="1295400"/>
            <a:chExt cx="2857500" cy="4572000"/>
          </a:xfrm>
        </p:grpSpPr>
        <p:sp>
          <p:nvSpPr>
            <p:cNvPr id="5" name="Rectangle 5"/>
            <p:cNvSpPr/>
            <p:nvPr/>
          </p:nvSpPr>
          <p:spPr>
            <a:xfrm>
              <a:off x="533400" y="1295400"/>
              <a:ext cx="2857500" cy="4572000"/>
            </a:xfrm>
            <a:prstGeom prst="rect">
              <a:avLst/>
            </a:prstGeom>
            <a:solidFill>
              <a:srgbClr val="E4E9E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0580" y="17049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rgbClr val="627D98"/>
                  </a:solidFill>
                  <a:latin typeface="+mn-lt"/>
                  <a:ea typeface="+mn-ea"/>
                  <a:cs typeface="+mn-cs"/>
                </a:rPr>
                <a:t>課題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81050" y="2171700"/>
              <a:ext cx="1431902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9000" b="1" dirty="0">
                  <a:solidFill>
                    <a:srgbClr val="627D9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942975" y="4591050"/>
              <a:ext cx="628651" cy="419100"/>
              <a:chOff x="942975" y="4591050"/>
              <a:chExt cx="628651" cy="4191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187450" y="4730750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>
                    <a:moveTo>
                      <a:pt x="0" y="69850"/>
                    </a:moveTo>
                    <a:cubicBezTo>
                      <a:pt x="0" y="108427"/>
                      <a:pt x="31273" y="139700"/>
                      <a:pt x="69850" y="139700"/>
                    </a:cubicBezTo>
                    <a:cubicBezTo>
                      <a:pt x="108427" y="139700"/>
                      <a:pt x="139700" y="108427"/>
                      <a:pt x="139700" y="69850"/>
                    </a:cubicBezTo>
                    <a:cubicBezTo>
                      <a:pt x="139700" y="31273"/>
                      <a:pt x="108427" y="0"/>
                      <a:pt x="69850" y="0"/>
                    </a:cubicBezTo>
                    <a:cubicBezTo>
                      <a:pt x="31273" y="0"/>
                      <a:pt x="0" y="31273"/>
                      <a:pt x="0" y="69850"/>
                    </a:cubicBezTo>
                  </a:path>
                </a:pathLst>
              </a:custGeom>
              <a:noFill/>
              <a:ln w="52388">
                <a:solidFill>
                  <a:srgbClr val="627D98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42975" y="4591050"/>
                <a:ext cx="628651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628651" h="419100">
                    <a:moveTo>
                      <a:pt x="628651" y="209550"/>
                    </a:moveTo>
                    <a:cubicBezTo>
                      <a:pt x="544830" y="349250"/>
                      <a:pt x="440055" y="419100"/>
                      <a:pt x="314325" y="419100"/>
                    </a:cubicBezTo>
                    <a:cubicBezTo>
                      <a:pt x="188595" y="419100"/>
                      <a:pt x="83820" y="349250"/>
                      <a:pt x="0" y="209550"/>
                    </a:cubicBezTo>
                    <a:cubicBezTo>
                      <a:pt x="83820" y="69850"/>
                      <a:pt x="188595" y="0"/>
                      <a:pt x="314325" y="0"/>
                    </a:cubicBezTo>
                    <a:cubicBezTo>
                      <a:pt x="440055" y="0"/>
                      <a:pt x="544830" y="69850"/>
                      <a:pt x="628651" y="209550"/>
                    </a:cubicBezTo>
                  </a:path>
                </a:pathLst>
              </a:custGeom>
              <a:noFill/>
              <a:ln w="52388">
                <a:solidFill>
                  <a:srgbClr val="627D98"/>
                </a:solidFill>
              </a:ln>
            </p:spPr>
          </p:sp>
        </p:grpSp>
      </p:grpSp>
      <p:grpSp>
        <p:nvGrpSpPr>
          <p:cNvPr id="32" name="pain-points"/>
          <p:cNvGrpSpPr/>
          <p:nvPr/>
        </p:nvGrpSpPr>
        <p:grpSpPr>
          <a:xfrm>
            <a:off x="3810000" y="1860232"/>
            <a:ext cx="7848600" cy="3465957"/>
            <a:chOff x="3810000" y="1860232"/>
            <a:chExt cx="7848600" cy="3465957"/>
          </a:xfrm>
        </p:grpSpPr>
        <p:grpSp>
          <p:nvGrpSpPr>
            <p:cNvPr id="14" name="Group 14"/>
            <p:cNvGrpSpPr/>
            <p:nvPr/>
          </p:nvGrpSpPr>
          <p:grpSpPr>
            <a:xfrm>
              <a:off x="3810000" y="2628900"/>
              <a:ext cx="7848600" cy="1724025"/>
              <a:chOff x="3810000" y="2628900"/>
              <a:chExt cx="7848600" cy="1724025"/>
            </a:xfrm>
          </p:grpSpPr>
          <p:sp>
            <p:nvSpPr>
              <p:cNvPr id="12" name="Line 12"/>
              <p:cNvSpPr/>
              <p:nvPr/>
            </p:nvSpPr>
            <p:spPr>
              <a:xfrm>
                <a:off x="3810000" y="2628900"/>
                <a:ext cx="784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848600" h="9525">
                    <a:moveTo>
                      <a:pt x="0" y="0"/>
                    </a:moveTo>
                    <a:lnTo>
                      <a:pt x="7848600" y="0"/>
                    </a:lnTo>
                  </a:path>
                </a:pathLst>
              </a:custGeom>
              <a:noFill/>
              <a:ln w="9525">
                <a:solidFill>
                  <a:srgbClr val="D9E2EC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3810000" y="4343400"/>
                <a:ext cx="78486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848600" h="9525">
                    <a:moveTo>
                      <a:pt x="0" y="0"/>
                    </a:moveTo>
                    <a:lnTo>
                      <a:pt x="7848600" y="0"/>
                    </a:lnTo>
                  </a:path>
                </a:pathLst>
              </a:custGeom>
              <a:noFill/>
              <a:ln w="9525">
                <a:solidFill>
                  <a:srgbClr val="D9E2EC"/>
                </a:solidFill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3810000" y="1905000"/>
              <a:ext cx="95250" cy="3238500"/>
              <a:chOff x="3810000" y="1905000"/>
              <a:chExt cx="95250" cy="3238500"/>
            </a:xfrm>
          </p:grpSpPr>
          <p:sp>
            <p:nvSpPr>
              <p:cNvPr id="15" name="Rectangle 15"/>
              <p:cNvSpPr/>
              <p:nvPr/>
            </p:nvSpPr>
            <p:spPr>
              <a:xfrm>
                <a:off x="3810000" y="1905000"/>
                <a:ext cx="95250" cy="95250"/>
              </a:xfrm>
              <a:prstGeom prst="rect">
                <a:avLst/>
              </a:prstGeom>
              <a:solidFill>
                <a:srgbClr val="627D98"/>
              </a:solidFill>
              <a:ln>
                <a:noFill/>
              </a:ln>
            </p:spPr>
          </p:sp>
          <p:sp>
            <p:nvSpPr>
              <p:cNvPr id="16" name="Rectangle 16"/>
              <p:cNvSpPr/>
              <p:nvPr/>
            </p:nvSpPr>
            <p:spPr>
              <a:xfrm>
                <a:off x="3810000" y="3143250"/>
                <a:ext cx="95250" cy="95250"/>
              </a:xfrm>
              <a:prstGeom prst="rect">
                <a:avLst/>
              </a:prstGeom>
              <a:solidFill>
                <a:srgbClr val="627D98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3810000" y="5048250"/>
                <a:ext cx="95250" cy="95250"/>
              </a:xfrm>
              <a:prstGeom prst="rect">
                <a:avLst/>
              </a:prstGeom>
              <a:solidFill>
                <a:srgbClr val="627D98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4068318" y="1860232"/>
              <a:ext cx="73645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CPU、NPU、複数のタスクが並行して動くと、ボトルネックが分からない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68318" y="3098482"/>
              <a:ext cx="510494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μT-Kernel 3.0には、タスク切替と割込みを記録する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5353050" y="3505200"/>
              <a:ext cx="2743200" cy="342900"/>
              <a:chOff x="5353050" y="3505200"/>
              <a:chExt cx="2743200" cy="34290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5353050" y="3505200"/>
                <a:ext cx="116205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0B2A3C"/>
              </a:solidFill>
              <a:ln>
                <a:noFill/>
              </a:ln>
            </p:spPr>
          </p:sp>
          <p:sp>
            <p:nvSpPr>
              <p:cNvPr id="22" name="Rectangle 22"/>
              <p:cNvSpPr/>
              <p:nvPr/>
            </p:nvSpPr>
            <p:spPr>
              <a:xfrm>
                <a:off x="6934200" y="3505200"/>
                <a:ext cx="1162050" cy="342900"/>
              </a:xfrm>
              <a:prstGeom prst="roundRect">
                <a:avLst>
                  <a:gd name="adj" fmla="val 11111"/>
                </a:avLst>
              </a:prstGeom>
              <a:solidFill>
                <a:srgbClr val="0B2A3C"/>
              </a:solidFill>
              <a:ln>
                <a:noFill/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5422392" y="3588068"/>
              <a:ext cx="2594420" cy="264033"/>
              <a:chOff x="5422392" y="3588068"/>
              <a:chExt cx="2594420" cy="264033"/>
            </a:xfrm>
          </p:grpSpPr>
          <p:sp>
            <p:nvSpPr>
              <p:cNvPr id="24" name="TextBox 24"/>
              <p:cNvSpPr txBox="1"/>
              <p:nvPr/>
            </p:nvSpPr>
            <p:spPr>
              <a:xfrm>
                <a:off x="5422392" y="3588068"/>
                <a:ext cx="10132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td_hok_dsp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003542" y="3588068"/>
                <a:ext cx="101327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td_hok_int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4068318" y="3574732"/>
              <a:ext cx="6111621" cy="322707"/>
              <a:chOff x="4068318" y="3574732"/>
              <a:chExt cx="6111621" cy="322707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4068318" y="3574732"/>
                <a:ext cx="125054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65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フックAPI（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582918" y="3574732"/>
                <a:ext cx="10332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65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/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8164068" y="3574732"/>
                <a:ext cx="201587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65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）が宣言されている</a:t>
                </a: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4068318" y="5003482"/>
              <a:ext cx="70986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しかし</a:t>
              </a:r>
              <a:r>
                <a:rPr lang="ja-JP" sz="16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実装がなく</a:t>
              </a:r>
              <a:r>
                <a:rPr lang="ja-JP" sz="165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、BSP2ではアプリからAPIを使うこともできなかった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528066" y="6535102"/>
            <a:ext cx="11135868" cy="205359"/>
            <a:chOff x="528066" y="6535102"/>
            <a:chExt cx="11135868" cy="205359"/>
          </a:xfrm>
        </p:grpSpPr>
        <p:sp>
          <p:nvSpPr>
            <p:cNvPr id="33" name="TextBox 33"/>
            <p:cNvSpPr txBox="1"/>
            <p:nvPr/>
          </p:nvSpPr>
          <p:spPr>
            <a:xfrm>
              <a:off x="528066" y="6535102"/>
              <a:ext cx="689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μAI-Studio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00861" y="6535102"/>
              <a:ext cx="16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33400" y="533400"/>
            <a:ext cx="7395512" cy="528257"/>
            <a:chOff x="533400" y="533400"/>
            <a:chExt cx="7395512" cy="528257"/>
          </a:xfrm>
        </p:grpSpPr>
        <p:sp>
          <p:nvSpPr>
            <p:cNvPr id="2" name="Rectangle 2"/>
            <p:cNvSpPr/>
            <p:nvPr/>
          </p:nvSpPr>
          <p:spPr>
            <a:xfrm>
              <a:off x="533400" y="533400"/>
              <a:ext cx="57150" cy="36195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996" y="562928"/>
              <a:ext cx="719891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5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解決4：フックを実装し、CPUとNPUを可視化</a:t>
              </a:r>
            </a:p>
          </p:txBody>
        </p:sp>
      </p:grpSp>
      <p:grpSp>
        <p:nvGrpSpPr>
          <p:cNvPr id="25" name="hook-points"/>
          <p:cNvGrpSpPr/>
          <p:nvPr/>
        </p:nvGrpSpPr>
        <p:grpSpPr>
          <a:xfrm>
            <a:off x="533400" y="1428750"/>
            <a:ext cx="9500235" cy="1845945"/>
            <a:chOff x="533400" y="1428750"/>
            <a:chExt cx="9500235" cy="1845945"/>
          </a:xfrm>
        </p:grpSpPr>
        <p:grpSp>
          <p:nvGrpSpPr>
            <p:cNvPr id="9" name="Group 9"/>
            <p:cNvGrpSpPr/>
            <p:nvPr/>
          </p:nvGrpSpPr>
          <p:grpSpPr>
            <a:xfrm>
              <a:off x="533400" y="1543050"/>
              <a:ext cx="95250" cy="1581150"/>
              <a:chOff x="533400" y="1543050"/>
              <a:chExt cx="95250" cy="1581150"/>
            </a:xfrm>
          </p:grpSpPr>
          <p:sp>
            <p:nvSpPr>
              <p:cNvPr id="5" name="Rectangle 5"/>
              <p:cNvSpPr/>
              <p:nvPr/>
            </p:nvSpPr>
            <p:spPr>
              <a:xfrm>
                <a:off x="533400" y="1543050"/>
                <a:ext cx="95250" cy="95250"/>
              </a:xfrm>
              <a:prstGeom prst="rect">
                <a:avLst/>
              </a:prstGeom>
              <a:solidFill>
                <a:srgbClr val="0B6E8E"/>
              </a:solidFill>
              <a:ln>
                <a:noFill/>
              </a:ln>
            </p:spPr>
          </p:sp>
          <p:sp>
            <p:nvSpPr>
              <p:cNvPr id="6" name="Rectangle 6"/>
              <p:cNvSpPr/>
              <p:nvPr/>
            </p:nvSpPr>
            <p:spPr>
              <a:xfrm>
                <a:off x="533400" y="2038350"/>
                <a:ext cx="95250" cy="95250"/>
              </a:xfrm>
              <a:prstGeom prst="rect">
                <a:avLst/>
              </a:prstGeom>
              <a:solidFill>
                <a:srgbClr val="0B6E8E"/>
              </a:solidFill>
              <a:ln>
                <a:noFill/>
              </a:ln>
            </p:spPr>
          </p:sp>
          <p:sp>
            <p:nvSpPr>
              <p:cNvPr id="7" name="Rectangle 7"/>
              <p:cNvSpPr/>
              <p:nvPr/>
            </p:nvSpPr>
            <p:spPr>
              <a:xfrm>
                <a:off x="533400" y="2533650"/>
                <a:ext cx="95250" cy="95250"/>
              </a:xfrm>
              <a:prstGeom prst="rect">
                <a:avLst/>
              </a:prstGeom>
              <a:solidFill>
                <a:srgbClr val="0B6E8E"/>
              </a:solidFill>
              <a:ln>
                <a:noFill/>
              </a:ln>
            </p:spPr>
          </p:sp>
          <p:sp>
            <p:nvSpPr>
              <p:cNvPr id="8" name="Rectangle 8"/>
              <p:cNvSpPr/>
              <p:nvPr/>
            </p:nvSpPr>
            <p:spPr>
              <a:xfrm>
                <a:off x="533400" y="3028950"/>
                <a:ext cx="95250" cy="95250"/>
              </a:xfrm>
              <a:prstGeom prst="rect">
                <a:avLst/>
              </a:prstGeom>
              <a:solidFill>
                <a:srgbClr val="0B6E8E"/>
              </a:solidFill>
              <a:ln>
                <a:noFill/>
              </a:ln>
            </p:spPr>
          </p:sp>
        </p:grpSp>
        <p:grpSp>
          <p:nvGrpSpPr>
            <p:cNvPr id="13" name="Group 13"/>
            <p:cNvGrpSpPr/>
            <p:nvPr/>
          </p:nvGrpSpPr>
          <p:grpSpPr>
            <a:xfrm>
              <a:off x="800100" y="1428750"/>
              <a:ext cx="7534275" cy="1314450"/>
              <a:chOff x="800100" y="1428750"/>
              <a:chExt cx="7534275" cy="13144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800100" y="1428750"/>
                <a:ext cx="11049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0B2A3C"/>
              </a:solidFill>
              <a:ln>
                <a:noFill/>
              </a:ln>
            </p:spPr>
          </p:sp>
          <p:sp>
            <p:nvSpPr>
              <p:cNvPr id="11" name="Rectangle 11"/>
              <p:cNvSpPr/>
              <p:nvPr/>
            </p:nvSpPr>
            <p:spPr>
              <a:xfrm>
                <a:off x="2152650" y="1428750"/>
                <a:ext cx="11049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0B2A3C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6086475" y="2419350"/>
                <a:ext cx="2247900" cy="323850"/>
              </a:xfrm>
              <a:prstGeom prst="roundRect">
                <a:avLst>
                  <a:gd name="adj" fmla="val 11765"/>
                </a:avLst>
              </a:prstGeom>
              <a:solidFill>
                <a:srgbClr val="0B2A3C"/>
              </a:solidFill>
              <a:ln>
                <a:noFill/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869823" y="1510189"/>
              <a:ext cx="7502342" cy="1239964"/>
              <a:chOff x="869823" y="1510189"/>
              <a:chExt cx="7502342" cy="1239964"/>
            </a:xfrm>
          </p:grpSpPr>
          <p:sp>
            <p:nvSpPr>
              <p:cNvPr id="14" name="TextBox 14"/>
              <p:cNvSpPr txBox="1"/>
              <p:nvPr/>
            </p:nvSpPr>
            <p:spPr>
              <a:xfrm>
                <a:off x="869823" y="1510189"/>
                <a:ext cx="96067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td_hok_dsp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2222373" y="1510189"/>
                <a:ext cx="96067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td_hok_int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156198" y="2500789"/>
                <a:ext cx="2215967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80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UAI_KERNEL_TRACE_HOOKS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792480" y="1495425"/>
              <a:ext cx="9241155" cy="1779270"/>
              <a:chOff x="792480" y="1495425"/>
              <a:chExt cx="9241155" cy="1779270"/>
            </a:xfrm>
          </p:grpSpPr>
          <p:sp>
            <p:nvSpPr>
              <p:cNvPr id="18" name="TextBox 18"/>
              <p:cNvSpPr txBox="1"/>
              <p:nvPr/>
            </p:nvSpPr>
            <p:spPr>
              <a:xfrm>
                <a:off x="1954530" y="1495425"/>
                <a:ext cx="9393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/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326130" y="1495425"/>
                <a:ext cx="553367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を実装し、BSP2からアプリがフックを登録できるようにした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92480" y="1990725"/>
                <a:ext cx="829306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Cortex-M55（ARMv8-M）のディスパッチ処理と割込み処理から、フックを呼ぶようにした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92480" y="2486025"/>
                <a:ext cx="600858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μT-Kernel/DSの標準APIなので、ほかのアプリもCMakeオプション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402955" y="2486025"/>
                <a:ext cx="16306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でフックを使える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92480" y="2981325"/>
                <a:ext cx="8463083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フックの呼び出しは、オプションを指定したときだけ組み込まれる（ai-appでは既定で有効）</a:t>
                </a:r>
              </a:p>
            </p:txBody>
          </p:sp>
        </p:grpSp>
      </p:grpSp>
      <p:grpSp>
        <p:nvGrpSpPr>
          <p:cNvPr id="43" name="record-path"/>
          <p:cNvGrpSpPr/>
          <p:nvPr/>
        </p:nvGrpSpPr>
        <p:grpSpPr>
          <a:xfrm>
            <a:off x="533400" y="3733800"/>
            <a:ext cx="11125200" cy="1828800"/>
            <a:chOff x="533400" y="3733800"/>
            <a:chExt cx="11125200" cy="1828800"/>
          </a:xfrm>
        </p:grpSpPr>
        <p:sp>
          <p:nvSpPr>
            <p:cNvPr id="26" name="Rectangle 26"/>
            <p:cNvSpPr/>
            <p:nvPr/>
          </p:nvSpPr>
          <p:spPr>
            <a:xfrm>
              <a:off x="533400" y="3733800"/>
              <a:ext cx="11125200" cy="1828800"/>
            </a:xfrm>
            <a:prstGeom prst="rect">
              <a:avLst/>
            </a:prstGeom>
            <a:solidFill>
              <a:srgbClr val="E6F1F5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804862" y="3962400"/>
              <a:ext cx="257175" cy="238125"/>
              <a:chOff x="804862" y="3962400"/>
              <a:chExt cx="257175" cy="238125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804862" y="3962400"/>
                <a:ext cx="257175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71450">
                    <a:moveTo>
                      <a:pt x="0" y="14288"/>
                    </a:moveTo>
                    <a:cubicBezTo>
                      <a:pt x="0" y="6397"/>
                      <a:pt x="6397" y="0"/>
                      <a:pt x="14288" y="0"/>
                    </a:cubicBezTo>
                    <a:lnTo>
                      <a:pt x="242888" y="0"/>
                    </a:lnTo>
                    <a:cubicBezTo>
                      <a:pt x="250778" y="0"/>
                      <a:pt x="257175" y="6397"/>
                      <a:pt x="257175" y="14288"/>
                    </a:cubicBezTo>
                    <a:lnTo>
                      <a:pt x="257175" y="157162"/>
                    </a:lnTo>
                    <a:cubicBezTo>
                      <a:pt x="257175" y="165053"/>
                      <a:pt x="250778" y="171450"/>
                      <a:pt x="242888" y="171450"/>
                    </a:cubicBezTo>
                    <a:lnTo>
                      <a:pt x="14288" y="171450"/>
                    </a:lnTo>
                    <a:cubicBezTo>
                      <a:pt x="6397" y="171450"/>
                      <a:pt x="0" y="165053"/>
                      <a:pt x="0" y="157162"/>
                    </a:cubicBezTo>
                    <a:lnTo>
                      <a:pt x="0" y="14288"/>
                    </a:lnTo>
                  </a:path>
                </a:pathLst>
              </a:custGeom>
              <a:noFill/>
              <a:ln w="28575">
                <a:solidFill>
                  <a:srgbClr val="0B6E8E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62012" y="419100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28575">
                <a:solidFill>
                  <a:srgbClr val="0B6E8E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90588" y="413385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0B6E8E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976312" y="4133850"/>
                <a:ext cx="95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">
                    <a:moveTo>
                      <a:pt x="0" y="0"/>
                    </a:move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0B6E8E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76300" y="4019550"/>
                <a:ext cx="11430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57150">
                    <a:moveTo>
                      <a:pt x="0" y="57150"/>
                    </a:moveTo>
                    <a:lnTo>
                      <a:pt x="42862" y="14288"/>
                    </a:lnTo>
                    <a:lnTo>
                      <a:pt x="71438" y="42862"/>
                    </a:lnTo>
                    <a:lnTo>
                      <a:pt x="114300" y="0"/>
                    </a:lnTo>
                  </a:path>
                </a:pathLst>
              </a:custGeom>
              <a:noFill/>
              <a:ln w="28575">
                <a:solidFill>
                  <a:srgbClr val="0B6E8E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211580" y="3990975"/>
              <a:ext cx="44880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この上に2つの可視化ツール（次の2枚）を作った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62000" y="4457700"/>
              <a:ext cx="3048000" cy="76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46785" y="462200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rgbClr val="486581"/>
                  </a:solidFill>
                  <a:latin typeface="+mn-lt"/>
                  <a:ea typeface="+mn-ea"/>
                  <a:cs typeface="+mn-cs"/>
                </a:rPr>
                <a:t>記録をためる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5261" y="4894421"/>
              <a:ext cx="24393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420" b="1" dirty="0">
                  <a:solidFill>
                    <a:srgbClr val="0B2A3C"/>
                  </a:solidFill>
                  <a:latin typeface="+mn-lt"/>
                  <a:ea typeface="+mn-ea"/>
                  <a:cs typeface="+mn-cs"/>
                </a:rPr>
                <a:t>PSRAM上のリングバッファ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3810000" y="4933950"/>
              <a:ext cx="2857500" cy="1"/>
            </a:xfrm>
            <a:prstGeom prst="line">
              <a:avLst/>
            </a:prstGeom>
            <a:noFill/>
            <a:ln w="19050">
              <a:solidFill>
                <a:srgbClr val="0B6E8E"/>
              </a:solidFill>
              <a:tailEnd type="triangle" w="lg" len="lg"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836176" y="4671060"/>
              <a:ext cx="28051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2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SWDでボードを一時停止して読み出す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686550" y="4457700"/>
              <a:ext cx="1905000" cy="762000"/>
            </a:xfrm>
            <a:prstGeom prst="rect">
              <a:avLst/>
            </a:prstGeom>
            <a:solidFill>
              <a:srgbClr val="0B2A3C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328535" y="47529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ホスト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858250" y="4457700"/>
              <a:ext cx="2571750" cy="762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B6E8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154457" y="4759642"/>
              <a:ext cx="1979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350" b="1" dirty="0">
                  <a:solidFill>
                    <a:srgbClr val="0B6E8E"/>
                  </a:solidFill>
                  <a:latin typeface="+mn-lt"/>
                  <a:ea typeface="+mn-ea"/>
                  <a:cs typeface="+mn-cs"/>
                </a:rPr>
                <a:t>UARTの帯域を使わない</a:t>
              </a:r>
            </a:p>
          </p:txBody>
        </p:sp>
      </p:grpSp>
      <p:grpSp>
        <p:nvGrpSpPr>
          <p:cNvPr id="46" name="footer"/>
          <p:cNvGrpSpPr/>
          <p:nvPr/>
        </p:nvGrpSpPr>
        <p:grpSpPr>
          <a:xfrm>
            <a:off x="528066" y="6535102"/>
            <a:ext cx="11135868" cy="205359"/>
            <a:chOff x="528066" y="6535102"/>
            <a:chExt cx="11135868" cy="205359"/>
          </a:xfrm>
        </p:grpSpPr>
        <p:sp>
          <p:nvSpPr>
            <p:cNvPr id="44" name="TextBox 44"/>
            <p:cNvSpPr txBox="1"/>
            <p:nvPr/>
          </p:nvSpPr>
          <p:spPr>
            <a:xfrm>
              <a:off x="528066" y="6535102"/>
              <a:ext cx="689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μAI-Studio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500861" y="6535102"/>
              <a:ext cx="16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33400" y="533400"/>
            <a:ext cx="5150173" cy="528257"/>
            <a:chOff x="533400" y="533400"/>
            <a:chExt cx="5150173" cy="528257"/>
          </a:xfrm>
        </p:grpSpPr>
        <p:sp>
          <p:nvSpPr>
            <p:cNvPr id="2" name="Rectangle 2"/>
            <p:cNvSpPr/>
            <p:nvPr/>
          </p:nvSpPr>
          <p:spPr>
            <a:xfrm>
              <a:off x="533400" y="533400"/>
              <a:ext cx="57150" cy="36195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996" y="562928"/>
              <a:ext cx="49535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5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可視化の例：CPU task monitor</a:t>
              </a:r>
            </a:p>
          </p:txBody>
        </p:sp>
      </p:grpSp>
      <p:grpSp>
        <p:nvGrpSpPr>
          <p:cNvPr id="7" name="cpu-monitor-figure"/>
          <p:cNvGrpSpPr/>
          <p:nvPr/>
        </p:nvGrpSpPr>
        <p:grpSpPr>
          <a:xfrm>
            <a:off x="533400" y="1123950"/>
            <a:ext cx="6134100" cy="5181600"/>
            <a:chOff x="533400" y="1123950"/>
            <a:chExt cx="6134100" cy="5181600"/>
          </a:xfrm>
        </p:grpSpPr>
        <p:sp>
          <p:nvSpPr>
            <p:cNvPr id="5" name="Rectangle 5"/>
            <p:cNvSpPr/>
            <p:nvPr/>
          </p:nvSpPr>
          <p:spPr>
            <a:xfrm>
              <a:off x="533400" y="1123950"/>
              <a:ext cx="6134100" cy="5181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CCCDC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8595" y="1123950"/>
              <a:ext cx="6123709" cy="5181600"/>
            </a:xfrm>
            <a:prstGeom prst="rect">
              <a:avLst/>
            </a:prstGeom>
          </p:spPr>
        </p:pic>
      </p:grpSp>
      <p:grpSp>
        <p:nvGrpSpPr>
          <p:cNvPr id="25" name="cpu-monitor-legend"/>
          <p:cNvGrpSpPr/>
          <p:nvPr/>
        </p:nvGrpSpPr>
        <p:grpSpPr>
          <a:xfrm>
            <a:off x="6781800" y="1307782"/>
            <a:ext cx="3661410" cy="4357688"/>
            <a:chOff x="6781800" y="1307782"/>
            <a:chExt cx="3661410" cy="4357688"/>
          </a:xfrm>
        </p:grpSpPr>
        <p:sp>
          <p:nvSpPr>
            <p:cNvPr id="8" name="TextBox 8"/>
            <p:cNvSpPr txBox="1"/>
            <p:nvPr/>
          </p:nvSpPr>
          <p:spPr>
            <a:xfrm>
              <a:off x="7040118" y="1307782"/>
              <a:ext cx="223799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フックの記録から作成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6781800" y="2152650"/>
              <a:ext cx="266700" cy="3324225"/>
              <a:chOff x="6781800" y="2152650"/>
              <a:chExt cx="266700" cy="3324225"/>
            </a:xfrm>
          </p:grpSpPr>
          <p:sp>
            <p:nvSpPr>
              <p:cNvPr id="9" name="Line 9"/>
              <p:cNvSpPr/>
              <p:nvPr/>
            </p:nvSpPr>
            <p:spPr>
              <a:xfrm>
                <a:off x="6781800" y="2152650"/>
                <a:ext cx="266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">
                    <a:moveTo>
                      <a:pt x="0" y="0"/>
                    </a:move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0B6E8E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6781800" y="3905250"/>
                <a:ext cx="266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">
                    <a:moveTo>
                      <a:pt x="0" y="0"/>
                    </a:move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0B6E8E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6781800" y="5467350"/>
                <a:ext cx="266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9525">
                    <a:moveTo>
                      <a:pt x="0" y="0"/>
                    </a:move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0B6E8E"/>
                </a:solidFill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7048500" y="1981200"/>
              <a:ext cx="609600" cy="3657600"/>
              <a:chOff x="7048500" y="1981200"/>
              <a:chExt cx="609600" cy="36576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7048500" y="1981200"/>
                <a:ext cx="609600" cy="342900"/>
              </a:xfrm>
              <a:prstGeom prst="rect">
                <a:avLst/>
              </a:prstGeom>
              <a:solidFill>
                <a:srgbClr val="0B6E8E"/>
              </a:solidFill>
              <a:ln>
                <a:noFill/>
              </a:ln>
            </p:spPr>
          </p:sp>
          <p:sp>
            <p:nvSpPr>
              <p:cNvPr id="14" name="Rectangle 14"/>
              <p:cNvSpPr/>
              <p:nvPr/>
            </p:nvSpPr>
            <p:spPr>
              <a:xfrm>
                <a:off x="7048500" y="3733800"/>
                <a:ext cx="609600" cy="342900"/>
              </a:xfrm>
              <a:prstGeom prst="rect">
                <a:avLst/>
              </a:prstGeom>
              <a:solidFill>
                <a:srgbClr val="0B6E8E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7048500" y="5295900"/>
                <a:ext cx="609600" cy="342900"/>
              </a:xfrm>
              <a:prstGeom prst="rect">
                <a:avLst/>
              </a:prstGeom>
              <a:solidFill>
                <a:srgbClr val="0B6E8E"/>
              </a:solidFill>
              <a:ln>
                <a:noFill/>
              </a:ln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7164705" y="2073592"/>
              <a:ext cx="377190" cy="3578733"/>
              <a:chOff x="7164705" y="2073592"/>
              <a:chExt cx="377190" cy="3578733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7164705" y="2073592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上段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164705" y="3826192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中段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164705" y="5388292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下段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7802880" y="2057400"/>
              <a:ext cx="2640330" cy="3608070"/>
              <a:chOff x="7802880" y="2057400"/>
              <a:chExt cx="2640330" cy="3608070"/>
            </a:xfrm>
          </p:grpSpPr>
          <p:sp>
            <p:nvSpPr>
              <p:cNvPr id="21" name="TextBox 21"/>
              <p:cNvSpPr txBox="1"/>
              <p:nvPr/>
            </p:nvSpPr>
            <p:spPr>
              <a:xfrm>
                <a:off x="7802880" y="2057400"/>
                <a:ext cx="182692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タスク別CPU使用率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802880" y="3810000"/>
                <a:ext cx="26403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各タスクのループのガント図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802880" y="5372100"/>
                <a:ext cx="223647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ループ時間の平均と最大</a:t>
                </a:r>
              </a:p>
            </p:txBody>
          </p:sp>
        </p:grpSp>
      </p:grpSp>
      <p:grpSp>
        <p:nvGrpSpPr>
          <p:cNvPr id="28" name="footer"/>
          <p:cNvGrpSpPr/>
          <p:nvPr/>
        </p:nvGrpSpPr>
        <p:grpSpPr>
          <a:xfrm>
            <a:off x="528066" y="6535102"/>
            <a:ext cx="11135868" cy="205359"/>
            <a:chOff x="528066" y="6535102"/>
            <a:chExt cx="11135868" cy="205359"/>
          </a:xfrm>
        </p:grpSpPr>
        <p:sp>
          <p:nvSpPr>
            <p:cNvPr id="26" name="TextBox 26"/>
            <p:cNvSpPr txBox="1"/>
            <p:nvPr/>
          </p:nvSpPr>
          <p:spPr>
            <a:xfrm>
              <a:off x="528066" y="6535102"/>
              <a:ext cx="689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μAI-Studio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00861" y="6535102"/>
              <a:ext cx="16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33400" y="533400"/>
            <a:ext cx="5174672" cy="528257"/>
            <a:chOff x="533400" y="533400"/>
            <a:chExt cx="5174672" cy="528257"/>
          </a:xfrm>
        </p:grpSpPr>
        <p:sp>
          <p:nvSpPr>
            <p:cNvPr id="2" name="Rectangle 2"/>
            <p:cNvSpPr/>
            <p:nvPr/>
          </p:nvSpPr>
          <p:spPr>
            <a:xfrm>
              <a:off x="533400" y="533400"/>
              <a:ext cx="57150" cy="36195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996" y="562928"/>
              <a:ext cx="497807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5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可視化の例：AI model monitor</a:t>
              </a:r>
            </a:p>
          </p:txBody>
        </p:sp>
      </p:grpSp>
      <p:grpSp>
        <p:nvGrpSpPr>
          <p:cNvPr id="7" name="ai-monitor-figure"/>
          <p:cNvGrpSpPr/>
          <p:nvPr/>
        </p:nvGrpSpPr>
        <p:grpSpPr>
          <a:xfrm>
            <a:off x="533400" y="1257300"/>
            <a:ext cx="8191500" cy="4914900"/>
            <a:chOff x="533400" y="1257300"/>
            <a:chExt cx="8191500" cy="4914900"/>
          </a:xfrm>
        </p:grpSpPr>
        <p:sp>
          <p:nvSpPr>
            <p:cNvPr id="5" name="Rectangle 5"/>
            <p:cNvSpPr/>
            <p:nvPr/>
          </p:nvSpPr>
          <p:spPr>
            <a:xfrm>
              <a:off x="533400" y="1257300"/>
              <a:ext cx="8191500" cy="49149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CCCDC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1257300"/>
              <a:ext cx="8191500" cy="4914900"/>
            </a:xfrm>
            <a:prstGeom prst="rect">
              <a:avLst/>
            </a:prstGeom>
          </p:spPr>
        </p:pic>
      </p:grpSp>
      <p:grpSp>
        <p:nvGrpSpPr>
          <p:cNvPr id="20" name="ai-monitor-legend"/>
          <p:cNvGrpSpPr/>
          <p:nvPr/>
        </p:nvGrpSpPr>
        <p:grpSpPr>
          <a:xfrm>
            <a:off x="8820150" y="1381125"/>
            <a:ext cx="2615868" cy="4452176"/>
            <a:chOff x="8820150" y="1381125"/>
            <a:chExt cx="2615868" cy="4452176"/>
          </a:xfrm>
        </p:grpSpPr>
        <p:sp>
          <p:nvSpPr>
            <p:cNvPr id="8" name="TextBox 8"/>
            <p:cNvSpPr txBox="1"/>
            <p:nvPr/>
          </p:nvSpPr>
          <p:spPr>
            <a:xfrm>
              <a:off x="9022080" y="1381125"/>
              <a:ext cx="230505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ja-JP" sz="150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AIランタイムに埋め込んだ</a:t>
              </a:r>
              <a:br/>
              <a:r>
                <a:rPr lang="ja-JP" sz="150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計測処理から作成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8820150" y="3028950"/>
              <a:ext cx="209550" cy="2181225"/>
              <a:chOff x="8820150" y="3028950"/>
              <a:chExt cx="209550" cy="2181225"/>
            </a:xfrm>
          </p:grpSpPr>
          <p:sp>
            <p:nvSpPr>
              <p:cNvPr id="9" name="Line 9"/>
              <p:cNvSpPr/>
              <p:nvPr/>
            </p:nvSpPr>
            <p:spPr>
              <a:xfrm>
                <a:off x="8820150" y="3028950"/>
                <a:ext cx="209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9525">
                    <a:moveTo>
                      <a:pt x="0" y="0"/>
                    </a:moveTo>
                    <a:lnTo>
                      <a:pt x="209550" y="0"/>
                    </a:lnTo>
                  </a:path>
                </a:pathLst>
              </a:custGeom>
              <a:noFill/>
              <a:ln w="19050">
                <a:solidFill>
                  <a:srgbClr val="0B6E8E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8820150" y="5200650"/>
                <a:ext cx="2095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09550" h="9525">
                    <a:moveTo>
                      <a:pt x="0" y="0"/>
                    </a:moveTo>
                    <a:lnTo>
                      <a:pt x="209550" y="0"/>
                    </a:lnTo>
                  </a:path>
                </a:pathLst>
              </a:custGeom>
              <a:noFill/>
              <a:ln w="19050">
                <a:solidFill>
                  <a:srgbClr val="0B6E8E"/>
                </a:solidFill>
              </a:ln>
            </p:spPr>
          </p:sp>
        </p:grpSp>
        <p:grpSp>
          <p:nvGrpSpPr>
            <p:cNvPr id="14" name="Group 14"/>
            <p:cNvGrpSpPr/>
            <p:nvPr/>
          </p:nvGrpSpPr>
          <p:grpSpPr>
            <a:xfrm>
              <a:off x="9029700" y="2857500"/>
              <a:ext cx="609600" cy="2514600"/>
              <a:chOff x="9029700" y="2857500"/>
              <a:chExt cx="609600" cy="2514600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9029700" y="2857500"/>
                <a:ext cx="609600" cy="342900"/>
              </a:xfrm>
              <a:prstGeom prst="rect">
                <a:avLst/>
              </a:prstGeom>
              <a:solidFill>
                <a:srgbClr val="0B6E8E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9029700" y="5029200"/>
                <a:ext cx="609600" cy="342900"/>
              </a:xfrm>
              <a:prstGeom prst="rect">
                <a:avLst/>
              </a:prstGeom>
              <a:solidFill>
                <a:srgbClr val="0B6E8E"/>
              </a:solidFill>
              <a:ln>
                <a:noFill/>
              </a:ln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9145905" y="2949892"/>
              <a:ext cx="377190" cy="2435733"/>
              <a:chOff x="9145905" y="2949892"/>
              <a:chExt cx="377190" cy="2435733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9145905" y="2949892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上段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145905" y="5121592"/>
                <a:ext cx="3771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ja-JP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下段</a:t>
                </a:r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9022842" y="3397568"/>
              <a:ext cx="2413176" cy="5307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ja-JP" sz="135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モデルごとのCPU処理（青）と</a:t>
              </a:r>
              <a:br/>
              <a:r>
                <a:rPr lang="ja-JP" sz="135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NPU処理（橙）のタイムライン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22842" y="55692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35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各段階の平均時間</a:t>
              </a:r>
            </a:p>
          </p:txBody>
        </p:sp>
      </p:grpSp>
      <p:grpSp>
        <p:nvGrpSpPr>
          <p:cNvPr id="23" name="footer"/>
          <p:cNvGrpSpPr/>
          <p:nvPr/>
        </p:nvGrpSpPr>
        <p:grpSpPr>
          <a:xfrm>
            <a:off x="528066" y="6535102"/>
            <a:ext cx="11135868" cy="205359"/>
            <a:chOff x="528066" y="6535102"/>
            <a:chExt cx="11135868" cy="205359"/>
          </a:xfrm>
        </p:grpSpPr>
        <p:sp>
          <p:nvSpPr>
            <p:cNvPr id="21" name="TextBox 21"/>
            <p:cNvSpPr txBox="1"/>
            <p:nvPr/>
          </p:nvSpPr>
          <p:spPr>
            <a:xfrm>
              <a:off x="528066" y="6535102"/>
              <a:ext cx="689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μAI-Studio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500861" y="6535102"/>
              <a:ext cx="16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33400" y="533400"/>
            <a:ext cx="7052231" cy="528257"/>
            <a:chOff x="533400" y="533400"/>
            <a:chExt cx="7052231" cy="528257"/>
          </a:xfrm>
        </p:grpSpPr>
        <p:sp>
          <p:nvSpPr>
            <p:cNvPr id="2" name="Rectangle 2"/>
            <p:cNvSpPr/>
            <p:nvPr/>
          </p:nvSpPr>
          <p:spPr>
            <a:xfrm>
              <a:off x="533400" y="533400"/>
              <a:ext cx="57150" cy="36195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996" y="562928"/>
              <a:ext cx="685563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5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活用例1：CPUとNPUは並列に動いているか</a:t>
              </a:r>
            </a:p>
          </p:txBody>
        </p:sp>
      </p:grpSp>
      <p:grpSp>
        <p:nvGrpSpPr>
          <p:cNvPr id="6" name="lead"/>
          <p:cNvGrpSpPr/>
          <p:nvPr/>
        </p:nvGrpSpPr>
        <p:grpSpPr>
          <a:xfrm>
            <a:off x="525780" y="1323975"/>
            <a:ext cx="5374280" cy="293370"/>
            <a:chOff x="525780" y="1323975"/>
            <a:chExt cx="5374280" cy="293370"/>
          </a:xfrm>
        </p:grpSpPr>
        <p:sp>
          <p:nvSpPr>
            <p:cNvPr id="5" name="TextBox 5"/>
            <p:cNvSpPr txBox="1"/>
            <p:nvPr/>
          </p:nvSpPr>
          <p:spPr>
            <a:xfrm>
              <a:off x="525780" y="1323975"/>
              <a:ext cx="5374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486581"/>
                  </a:solidFill>
                  <a:latin typeface="+mn-lt"/>
                  <a:ea typeface="+mn-ea"/>
                  <a:cs typeface="+mn-cs"/>
                </a:rPr>
                <a:t>評価用サンプル（3モデル同時推論）を実機で記録した結果</a:t>
              </a:r>
            </a:p>
          </p:txBody>
        </p:sp>
      </p:grpSp>
      <p:grpSp>
        <p:nvGrpSpPr>
          <p:cNvPr id="22" name="finding-parallel"/>
          <p:cNvGrpSpPr/>
          <p:nvPr/>
        </p:nvGrpSpPr>
        <p:grpSpPr>
          <a:xfrm>
            <a:off x="533400" y="1828800"/>
            <a:ext cx="5715000" cy="4000500"/>
            <a:chOff x="533400" y="1828800"/>
            <a:chExt cx="5715000" cy="4000500"/>
          </a:xfrm>
        </p:grpSpPr>
        <p:sp>
          <p:nvSpPr>
            <p:cNvPr id="7" name="Rectangle 7"/>
            <p:cNvSpPr/>
            <p:nvPr/>
          </p:nvSpPr>
          <p:spPr>
            <a:xfrm>
              <a:off x="533400" y="1828800"/>
              <a:ext cx="5715000" cy="400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33400" y="1828800"/>
              <a:ext cx="5715000" cy="3810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885825" y="2219325"/>
              <a:ext cx="285751" cy="285751"/>
              <a:chOff x="885825" y="2219325"/>
              <a:chExt cx="285751" cy="28575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917575" y="2251075"/>
                <a:ext cx="22225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22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206375" y="0"/>
                    </a:lnTo>
                    <a:cubicBezTo>
                      <a:pt x="215143" y="0"/>
                      <a:pt x="222250" y="7107"/>
                      <a:pt x="222250" y="15875"/>
                    </a:cubicBezTo>
                    <a:lnTo>
                      <a:pt x="222250" y="206375"/>
                    </a:lnTo>
                    <a:cubicBezTo>
                      <a:pt x="222250" y="215143"/>
                      <a:pt x="215143" y="222250"/>
                      <a:pt x="206375" y="222250"/>
                    </a:cubicBezTo>
                    <a:lnTo>
                      <a:pt x="15875" y="222250"/>
                    </a:lnTo>
                    <a:cubicBezTo>
                      <a:pt x="7107" y="222250"/>
                      <a:pt x="0" y="215143"/>
                      <a:pt x="0" y="206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81075" y="23145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0"/>
                    </a:lnTo>
                    <a:lnTo>
                      <a:pt x="95250" y="95250"/>
                    </a:lnTo>
                    <a:lnTo>
                      <a:pt x="0" y="95250"/>
                    </a:ln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85825" y="23304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85825" y="23939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96950" y="221932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060450" y="221932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139826" y="23304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31750" y="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139826" y="23939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31750" y="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60450" y="2473326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996950" y="2473326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326642" y="2292668"/>
              <a:ext cx="15450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B6E8E"/>
                  </a:solidFill>
                  <a:latin typeface="+mn-lt"/>
                  <a:ea typeface="+mn-ea"/>
                  <a:cs typeface="+mn-cs"/>
                </a:rPr>
                <a:t>AI model monitor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0580" y="3076575"/>
              <a:ext cx="4440384" cy="979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personやsegmentationを</a:t>
              </a:r>
              <a:r>
                <a:rPr lang="ja-JP" sz="1500" b="1" dirty="0">
                  <a:solidFill>
                    <a:srgbClr val="0B6E8E"/>
                  </a:solidFill>
                  <a:latin typeface="+mn-lt"/>
                  <a:ea typeface="+mn-ea"/>
                  <a:cs typeface="+mn-cs"/>
                </a:rPr>
                <a:t>NPUが推論している間に</a:t>
              </a:r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、</a:t>
              </a:r>
              <a:br/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faceの前処理や後処理が</a:t>
              </a:r>
              <a:r>
                <a:rPr lang="ja-JP" sz="1500" b="1" dirty="0">
                  <a:solidFill>
                    <a:srgbClr val="0B6E8E"/>
                  </a:solidFill>
                  <a:latin typeface="+mn-lt"/>
                  <a:ea typeface="+mn-ea"/>
                  <a:cs typeface="+mn-cs"/>
                </a:rPr>
                <a:t>CPUで進んでいる</a:t>
              </a:r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ことを、</a:t>
              </a:r>
              <a:br/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AI model monitorのタイムラインで確認できた</a:t>
              </a:r>
            </a:p>
          </p:txBody>
        </p:sp>
      </p:grpSp>
      <p:grpSp>
        <p:nvGrpSpPr>
          <p:cNvPr id="33" name="finding-camera-load"/>
          <p:cNvGrpSpPr/>
          <p:nvPr/>
        </p:nvGrpSpPr>
        <p:grpSpPr>
          <a:xfrm>
            <a:off x="6477000" y="1828800"/>
            <a:ext cx="5181600" cy="4000500"/>
            <a:chOff x="6477000" y="1828800"/>
            <a:chExt cx="5181600" cy="4000500"/>
          </a:xfrm>
        </p:grpSpPr>
        <p:sp>
          <p:nvSpPr>
            <p:cNvPr id="23" name="Rectangle 23"/>
            <p:cNvSpPr/>
            <p:nvPr/>
          </p:nvSpPr>
          <p:spPr>
            <a:xfrm>
              <a:off x="6477000" y="1828800"/>
              <a:ext cx="5181600" cy="4000500"/>
            </a:xfrm>
            <a:prstGeom prst="rect">
              <a:avLst/>
            </a:prstGeom>
            <a:solidFill>
              <a:srgbClr val="0B2A3C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829425" y="2235200"/>
              <a:ext cx="285750" cy="263526"/>
              <a:chOff x="6829425" y="2235200"/>
              <a:chExt cx="285750" cy="263526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6829425" y="2362200"/>
                <a:ext cx="9525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0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11125"/>
                    </a:lnTo>
                    <a:cubicBezTo>
                      <a:pt x="95250" y="119893"/>
                      <a:pt x="88143" y="127000"/>
                      <a:pt x="79375" y="127000"/>
                    </a:cubicBezTo>
                    <a:lnTo>
                      <a:pt x="15875" y="127000"/>
                    </a:lnTo>
                    <a:cubicBezTo>
                      <a:pt x="7107" y="127000"/>
                      <a:pt x="0" y="119893"/>
                      <a:pt x="0" y="111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rgbClr val="9FC3D3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019925" y="2298700"/>
                <a:ext cx="9525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9050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174625"/>
                    </a:lnTo>
                    <a:cubicBezTo>
                      <a:pt x="95250" y="183393"/>
                      <a:pt x="88143" y="190500"/>
                      <a:pt x="79375" y="190500"/>
                    </a:cubicBezTo>
                    <a:lnTo>
                      <a:pt x="15875" y="190500"/>
                    </a:lnTo>
                    <a:cubicBezTo>
                      <a:pt x="7107" y="190500"/>
                      <a:pt x="0" y="183393"/>
                      <a:pt x="0" y="1746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rgbClr val="9FC3D3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924675" y="2235200"/>
                <a:ext cx="95250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254001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79375" y="0"/>
                    </a:lnTo>
                    <a:cubicBezTo>
                      <a:pt x="88143" y="0"/>
                      <a:pt x="95250" y="7107"/>
                      <a:pt x="95250" y="15875"/>
                    </a:cubicBezTo>
                    <a:lnTo>
                      <a:pt x="95250" y="238125"/>
                    </a:lnTo>
                    <a:cubicBezTo>
                      <a:pt x="95250" y="246893"/>
                      <a:pt x="88143" y="254001"/>
                      <a:pt x="79375" y="254001"/>
                    </a:cubicBezTo>
                    <a:lnTo>
                      <a:pt x="15875" y="254001"/>
                    </a:lnTo>
                    <a:cubicBezTo>
                      <a:pt x="7107" y="254001"/>
                      <a:pt x="0" y="246893"/>
                      <a:pt x="0" y="23812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rgbClr val="9FC3D3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845300" y="2489201"/>
                <a:ext cx="222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9525">
                    <a:moveTo>
                      <a:pt x="0" y="0"/>
                    </a:moveTo>
                    <a:lnTo>
                      <a:pt x="222250" y="0"/>
                    </a:lnTo>
                  </a:path>
                </a:pathLst>
              </a:custGeom>
              <a:noFill/>
              <a:ln w="31750">
                <a:solidFill>
                  <a:srgbClr val="9FC3D3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7270242" y="2292668"/>
              <a:ext cx="15320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9FC3D3"/>
                  </a:solidFill>
                  <a:latin typeface="+mn-lt"/>
                  <a:ea typeface="+mn-ea"/>
                  <a:cs typeface="+mn-cs"/>
                </a:rPr>
                <a:t>CPU task monitor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724650" y="3124200"/>
              <a:ext cx="3694164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9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約77%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74180" y="4638675"/>
              <a:ext cx="36442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カメラ表示タスクが使っているCPU時間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775323" y="5082064"/>
              <a:ext cx="22193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280" dirty="0">
                  <a:solidFill>
                    <a:srgbClr val="9FC3D3"/>
                  </a:solidFill>
                  <a:latin typeface="+mn-lt"/>
                  <a:ea typeface="+mn-ea"/>
                  <a:cs typeface="+mn-cs"/>
                </a:rPr>
                <a:t>CPU task monitorから分かる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066" y="6535102"/>
            <a:ext cx="11135868" cy="205359"/>
            <a:chOff x="528066" y="6535102"/>
            <a:chExt cx="11135868" cy="205359"/>
          </a:xfrm>
        </p:grpSpPr>
        <p:sp>
          <p:nvSpPr>
            <p:cNvPr id="34" name="TextBox 34"/>
            <p:cNvSpPr txBox="1"/>
            <p:nvPr/>
          </p:nvSpPr>
          <p:spPr>
            <a:xfrm>
              <a:off x="528066" y="6535102"/>
              <a:ext cx="689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μAI-Studio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0861" y="6535102"/>
              <a:ext cx="16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33400" y="533400"/>
            <a:ext cx="3852769" cy="528257"/>
            <a:chOff x="533400" y="533400"/>
            <a:chExt cx="3852769" cy="528257"/>
          </a:xfrm>
        </p:grpSpPr>
        <p:sp>
          <p:nvSpPr>
            <p:cNvPr id="2" name="Rectangle 2"/>
            <p:cNvSpPr/>
            <p:nvPr/>
          </p:nvSpPr>
          <p:spPr>
            <a:xfrm>
              <a:off x="533400" y="533400"/>
              <a:ext cx="57150" cy="36195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996" y="562928"/>
              <a:ext cx="36561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5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活用例2：どこが遅いか</a:t>
              </a:r>
            </a:p>
          </p:txBody>
        </p:sp>
      </p:grpSp>
      <p:graphicFrame>
        <p:nvGraphicFramePr>
          <p:cNvPr id="5" name="p19-model-times"/>
          <p:cNvGraphicFramePr>
            <a:graphicFrameLocks noGrp="1"/>
          </p:cNvGraphicFramePr>
          <p:nvPr/>
        </p:nvGraphicFramePr>
        <p:xfrm>
          <a:off x="533400" y="1295400"/>
          <a:ext cx="11125200" cy="20574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476500"/>
                <a:gridCol w="2857500"/>
                <a:gridCol w="5791200"/>
              </a:tblGrid>
              <a:tr h="457200">
                <a:tc>
                  <a:txBody>
                    <a:bodyPr/>
                    <a:lstStyle/>
                    <a:p>
                      <a:pPr/>
                      <a:r>
                        <a:rPr lang="ja-JP" sz="1350" b="1">
                          <a:solidFill>
                            <a:srgbClr val="FFFFFF"/>
                          </a:solidFill>
                          <a:latin typeface="Segoe UI"/>
                          <a:ea typeface="Meiryo"/>
                          <a:cs typeface="Segoe UI"/>
                        </a:rPr>
                        <a:t>モデル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sz="1350" b="1">
                          <a:solidFill>
                            <a:srgbClr val="FFFFFF"/>
                          </a:solidFill>
                          <a:latin typeface="Segoe UI"/>
                          <a:ea typeface="Meiryo"/>
                          <a:cs typeface="Segoe UI"/>
                        </a:rPr>
                        <a:t>CPU処理（平均）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sz="1350" b="1">
                          <a:solidFill>
                            <a:srgbClr val="FFFFFF"/>
                          </a:solidFill>
                          <a:latin typeface="Segoe UI"/>
                          <a:ea typeface="Meiryo"/>
                          <a:cs typeface="Segoe UI"/>
                        </a:rPr>
                        <a:t>NPU処理（平均）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2A43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/>
                      <a:r>
                        <a:rPr lang="en-US" sz="1350" b="1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person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17.3 ms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0B6E8E"/>
                          </a:solidFill>
                          <a:latin typeface="Segoe UI"/>
                          <a:ea typeface="Meiryo"/>
                          <a:cs typeface="Segoe UI"/>
                        </a:rPr>
                        <a:t>396.4 ms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6F1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/>
                      <a:r>
                        <a:rPr lang="en-US" sz="1350" b="1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segmentation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42.0 ms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1">
                          <a:solidFill>
                            <a:srgbClr val="0B6E8E"/>
                          </a:solidFill>
                          <a:latin typeface="Segoe UI"/>
                          <a:ea typeface="Meiryo"/>
                          <a:cs typeface="Segoe UI"/>
                        </a:rPr>
                        <a:t>331.4 ms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6F1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/>
                      <a:r>
                        <a:rPr lang="en-US" sz="1350" b="1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face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35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19.7 ms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ja-JP" sz="1350" b="0">
                          <a:solidFill>
                            <a:srgbClr val="102A43"/>
                          </a:solidFill>
                          <a:latin typeface="Segoe UI"/>
                          <a:ea typeface="Meiryo"/>
                          <a:cs typeface="Segoe UI"/>
                        </a:rPr>
                        <a:t>62.8 ms（中央値20 ms、ときどき200 ms超）</a:t>
                      </a:r>
                    </a:p>
                  </a:txBody>
                  <a:tcPr anchor="ctr" marL="190500" marR="1905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7" name="resolution-note"/>
          <p:cNvGrpSpPr/>
          <p:nvPr/>
        </p:nvGrpSpPr>
        <p:grpSpPr>
          <a:xfrm>
            <a:off x="527685" y="3517106"/>
            <a:ext cx="1547474" cy="220028"/>
            <a:chOff x="527685" y="3517106"/>
            <a:chExt cx="1547474" cy="220028"/>
          </a:xfrm>
        </p:grpSpPr>
        <p:sp>
          <p:nvSpPr>
            <p:cNvPr id="6" name="TextBox 6"/>
            <p:cNvSpPr txBox="1"/>
            <p:nvPr/>
          </p:nvSpPr>
          <p:spPr>
            <a:xfrm>
              <a:off x="527685" y="3517106"/>
              <a:ext cx="15474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120" dirty="0">
                  <a:solidFill>
                    <a:srgbClr val="486581"/>
                  </a:solidFill>
                  <a:latin typeface="+mn-lt"/>
                  <a:ea typeface="+mn-ea"/>
                  <a:cs typeface="+mn-cs"/>
                </a:rPr>
                <a:t>※記録の分解能は10 ms</a:t>
              </a:r>
            </a:p>
          </p:txBody>
        </p:sp>
      </p:grpSp>
      <p:grpSp>
        <p:nvGrpSpPr>
          <p:cNvPr id="11" name="bottleneck-takeaway"/>
          <p:cNvGrpSpPr/>
          <p:nvPr/>
        </p:nvGrpSpPr>
        <p:grpSpPr>
          <a:xfrm>
            <a:off x="533400" y="3924300"/>
            <a:ext cx="11125200" cy="533400"/>
            <a:chOff x="533400" y="3924300"/>
            <a:chExt cx="11125200" cy="533400"/>
          </a:xfrm>
        </p:grpSpPr>
        <p:sp>
          <p:nvSpPr>
            <p:cNvPr id="8" name="Rectangle 8"/>
            <p:cNvSpPr/>
            <p:nvPr/>
          </p:nvSpPr>
          <p:spPr>
            <a:xfrm>
              <a:off x="533400" y="3924300"/>
              <a:ext cx="11125200" cy="533400"/>
            </a:xfrm>
            <a:prstGeom prst="rect">
              <a:avLst/>
            </a:prstGeom>
            <a:solidFill>
              <a:srgbClr val="E6F1F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3924300"/>
              <a:ext cx="57150" cy="53340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2480" y="4095750"/>
              <a:ext cx="82826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rgbClr val="0B6E8E"/>
                  </a:solidFill>
                  <a:latin typeface="+mn-lt"/>
                  <a:ea typeface="+mn-ea"/>
                  <a:cs typeface="+mn-cs"/>
                </a:rPr>
                <a:t>personとsegmentationのNPU処理</a:t>
              </a:r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が突出して長く、ここがボトルネックだと一目で分かる</a:t>
              </a:r>
            </a:p>
          </p:txBody>
        </p:sp>
      </p:grpSp>
      <p:grpSp>
        <p:nvGrpSpPr>
          <p:cNvPr id="14" name="todo-measures"/>
          <p:cNvGrpSpPr/>
          <p:nvPr/>
        </p:nvGrpSpPr>
        <p:grpSpPr>
          <a:xfrm>
            <a:off x="533400" y="4762500"/>
            <a:ext cx="11125200" cy="1409700"/>
            <a:chOff x="533400" y="4762500"/>
            <a:chExt cx="11125200" cy="1409700"/>
          </a:xfrm>
        </p:grpSpPr>
        <p:sp>
          <p:nvSpPr>
            <p:cNvPr id="12" name="Rectangle 12"/>
            <p:cNvSpPr/>
            <p:nvPr/>
          </p:nvSpPr>
          <p:spPr>
            <a:xfrm>
              <a:off x="533400" y="4762500"/>
              <a:ext cx="11125200" cy="1409700"/>
            </a:xfrm>
            <a:prstGeom prst="rect">
              <a:avLst/>
            </a:prstGeom>
            <a:noFill/>
            <a:ln w="19050">
              <a:solidFill>
                <a:srgbClr val="829AB1"/>
              </a:solidFill>
              <a:prstDash val="lgDash"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811877" y="5381625"/>
              <a:ext cx="45682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500" b="1" dirty="0">
                  <a:solidFill>
                    <a:srgbClr val="627D98"/>
                  </a:solidFill>
                  <a:latin typeface="+mn-lt"/>
                  <a:ea typeface="+mn-ea"/>
                  <a:cs typeface="+mn-cs"/>
                </a:rPr>
                <a:t>TODO（任意）: 実施した対策と、改善前後の数値</a:t>
              </a:r>
            </a:p>
          </p:txBody>
        </p:sp>
      </p:grpSp>
      <p:grpSp>
        <p:nvGrpSpPr>
          <p:cNvPr id="17" name="footer"/>
          <p:cNvGrpSpPr/>
          <p:nvPr/>
        </p:nvGrpSpPr>
        <p:grpSpPr>
          <a:xfrm>
            <a:off x="528066" y="6535102"/>
            <a:ext cx="11135868" cy="205359"/>
            <a:chOff x="528066" y="6535102"/>
            <a:chExt cx="11135868" cy="205359"/>
          </a:xfrm>
        </p:grpSpPr>
        <p:sp>
          <p:nvSpPr>
            <p:cNvPr id="15" name="TextBox 15"/>
            <p:cNvSpPr txBox="1"/>
            <p:nvPr/>
          </p:nvSpPr>
          <p:spPr>
            <a:xfrm>
              <a:off x="528066" y="6535102"/>
              <a:ext cx="689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μAI-Studio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500861" y="6535102"/>
              <a:ext cx="16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33400" y="533400"/>
            <a:ext cx="4000277" cy="528257"/>
            <a:chOff x="533400" y="533400"/>
            <a:chExt cx="4000277" cy="528257"/>
          </a:xfrm>
        </p:grpSpPr>
        <p:sp>
          <p:nvSpPr>
            <p:cNvPr id="2" name="Rectangle 2"/>
            <p:cNvSpPr/>
            <p:nvPr/>
          </p:nvSpPr>
          <p:spPr>
            <a:xfrm>
              <a:off x="533400" y="533400"/>
              <a:ext cx="57150" cy="36195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996" y="562928"/>
              <a:ext cx="38036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5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評価用サンプル：ai-app</a:t>
              </a:r>
            </a:p>
          </p:txBody>
        </p:sp>
      </p:grpSp>
      <p:grpSp>
        <p:nvGrpSpPr>
          <p:cNvPr id="7" name="app-summary"/>
          <p:cNvGrpSpPr/>
          <p:nvPr/>
        </p:nvGrpSpPr>
        <p:grpSpPr>
          <a:xfrm>
            <a:off x="533400" y="1419225"/>
            <a:ext cx="3282506" cy="598170"/>
            <a:chOff x="533400" y="1419225"/>
            <a:chExt cx="3282506" cy="598170"/>
          </a:xfrm>
        </p:grpSpPr>
        <p:sp>
          <p:nvSpPr>
            <p:cNvPr id="5" name="Rectangle 5"/>
            <p:cNvSpPr/>
            <p:nvPr/>
          </p:nvSpPr>
          <p:spPr>
            <a:xfrm>
              <a:off x="533400" y="1447800"/>
              <a:ext cx="95250" cy="9525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92480" y="1419225"/>
              <a:ext cx="3023426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カメラ映像をLCDに表示しながら、</a:t>
              </a:r>
              <a:br/>
              <a:r>
                <a:rPr lang="ja-JP" sz="1500" b="1" dirty="0">
                  <a:solidFill>
                    <a:srgbClr val="0B6E8E"/>
                  </a:solidFill>
                  <a:latin typeface="+mn-lt"/>
                  <a:ea typeface="+mn-ea"/>
                  <a:cs typeface="+mn-cs"/>
                </a:rPr>
                <a:t>3つのモデル</a:t>
              </a:r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をNPUで推論する</a:t>
              </a:r>
            </a:p>
          </p:txBody>
        </p:sp>
      </p:grpSp>
      <p:grpSp>
        <p:nvGrpSpPr>
          <p:cNvPr id="23" name="app-models"/>
          <p:cNvGrpSpPr/>
          <p:nvPr/>
        </p:nvGrpSpPr>
        <p:grpSpPr>
          <a:xfrm>
            <a:off x="800100" y="2286000"/>
            <a:ext cx="5486400" cy="2171700"/>
            <a:chOff x="800100" y="2286000"/>
            <a:chExt cx="5486400" cy="2171700"/>
          </a:xfrm>
        </p:grpSpPr>
        <p:sp>
          <p:nvSpPr>
            <p:cNvPr id="8" name="Rectangle 8"/>
            <p:cNvSpPr/>
            <p:nvPr/>
          </p:nvSpPr>
          <p:spPr>
            <a:xfrm>
              <a:off x="800100" y="2286000"/>
              <a:ext cx="5486400" cy="64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00100" y="3048000"/>
              <a:ext cx="5486400" cy="64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800100" y="3810000"/>
              <a:ext cx="5486400" cy="647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00100" y="2286000"/>
              <a:ext cx="38100" cy="2171700"/>
              <a:chOff x="800100" y="2286000"/>
              <a:chExt cx="38100" cy="21717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800100" y="2286000"/>
                <a:ext cx="38100" cy="647700"/>
              </a:xfrm>
              <a:prstGeom prst="rect">
                <a:avLst/>
              </a:prstGeom>
              <a:solidFill>
                <a:srgbClr val="0B6E8E"/>
              </a:solidFill>
              <a:ln>
                <a:noFill/>
              </a:ln>
            </p:spPr>
          </p:sp>
          <p:sp>
            <p:nvSpPr>
              <p:cNvPr id="12" name="Rectangle 12"/>
              <p:cNvSpPr/>
              <p:nvPr/>
            </p:nvSpPr>
            <p:spPr>
              <a:xfrm>
                <a:off x="800100" y="3048000"/>
                <a:ext cx="38100" cy="647700"/>
              </a:xfrm>
              <a:prstGeom prst="rect">
                <a:avLst/>
              </a:prstGeom>
              <a:solidFill>
                <a:srgbClr val="0B6E8E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800100" y="3810000"/>
                <a:ext cx="38100" cy="647700"/>
              </a:xfrm>
              <a:prstGeom prst="rect">
                <a:avLst/>
              </a:prstGeom>
              <a:solidFill>
                <a:srgbClr val="0B6E8E"/>
              </a:solidFill>
              <a:ln>
                <a:noFill/>
              </a:ln>
            </p:spPr>
          </p:sp>
        </p:grpSp>
        <p:grpSp>
          <p:nvGrpSpPr>
            <p:cNvPr id="18" name="Group 18"/>
            <p:cNvGrpSpPr/>
            <p:nvPr/>
          </p:nvGrpSpPr>
          <p:grpSpPr>
            <a:xfrm>
              <a:off x="1021080" y="2514600"/>
              <a:ext cx="1832610" cy="1817370"/>
              <a:chOff x="1021080" y="2514600"/>
              <a:chExt cx="1832610" cy="1817370"/>
            </a:xfrm>
          </p:grpSpPr>
          <p:sp>
            <p:nvSpPr>
              <p:cNvPr id="15" name="TextBox 15"/>
              <p:cNvSpPr txBox="1"/>
              <p:nvPr/>
            </p:nvSpPr>
            <p:spPr>
              <a:xfrm>
                <a:off x="1021080" y="2514600"/>
                <a:ext cx="82296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b="1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人物検出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021080" y="3276600"/>
                <a:ext cx="62103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b="1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顔検出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21080" y="4038600"/>
                <a:ext cx="18326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ja-JP" sz="1500" b="1" dirty="0">
                    <a:solidFill>
                      <a:srgbClr val="102A43"/>
                    </a:solidFill>
                    <a:latin typeface="+mn-lt"/>
                    <a:ea typeface="+mn-ea"/>
                    <a:cs typeface="+mn-cs"/>
                  </a:rPr>
                  <a:t>セグメンテーション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3231642" y="2521268"/>
              <a:ext cx="1044702" cy="1788033"/>
              <a:chOff x="3231642" y="2521268"/>
              <a:chExt cx="1044702" cy="1788033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3231642" y="2521268"/>
                <a:ext cx="10447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486581"/>
                    </a:solidFill>
                    <a:latin typeface="Consolas"/>
                    <a:ea typeface="Consolas"/>
                    <a:cs typeface="Consolas"/>
                  </a:rPr>
                  <a:t>YOLOX nano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231642" y="3283268"/>
                <a:ext cx="92463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486581"/>
                    </a:solidFill>
                    <a:latin typeface="Consolas"/>
                    <a:ea typeface="Consolas"/>
                    <a:cs typeface="Consolas"/>
                  </a:rPr>
                  <a:t>BlazeFace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3231642" y="4045268"/>
                <a:ext cx="10274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486581"/>
                    </a:solidFill>
                    <a:latin typeface="Consolas"/>
                    <a:ea typeface="Consolas"/>
                    <a:cs typeface="Consolas"/>
                  </a:rPr>
                  <a:t>DeepLab v3</a:t>
                </a:r>
              </a:p>
            </p:txBody>
          </p:sp>
        </p:grpSp>
      </p:grpSp>
      <p:grpSp>
        <p:nvGrpSpPr>
          <p:cNvPr id="26" name="app-coverage"/>
          <p:cNvGrpSpPr/>
          <p:nvPr/>
        </p:nvGrpSpPr>
        <p:grpSpPr>
          <a:xfrm>
            <a:off x="533400" y="4886325"/>
            <a:ext cx="5036820" cy="598170"/>
            <a:chOff x="533400" y="4886325"/>
            <a:chExt cx="5036820" cy="598170"/>
          </a:xfrm>
        </p:grpSpPr>
        <p:sp>
          <p:nvSpPr>
            <p:cNvPr id="24" name="Rectangle 24"/>
            <p:cNvSpPr/>
            <p:nvPr/>
          </p:nvSpPr>
          <p:spPr>
            <a:xfrm>
              <a:off x="533400" y="4914900"/>
              <a:ext cx="95250" cy="9525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2480" y="4886325"/>
              <a:ext cx="4777740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開発環境の各機能（メモリ配置の生成、ミドルウェア、</a:t>
              </a:r>
              <a:br/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モニター）を</a:t>
              </a:r>
              <a:r>
                <a:rPr lang="ja-JP" sz="1500" b="1" dirty="0">
                  <a:solidFill>
                    <a:srgbClr val="0B6E8E"/>
                  </a:solidFill>
                  <a:latin typeface="+mn-lt"/>
                  <a:ea typeface="+mn-ea"/>
                  <a:cs typeface="+mn-cs"/>
                </a:rPr>
                <a:t>すべて使っている</a:t>
              </a:r>
            </a:p>
          </p:txBody>
        </p:sp>
      </p:grpSp>
      <p:grpSp>
        <p:nvGrpSpPr>
          <p:cNvPr id="29" name="todo-demo"/>
          <p:cNvGrpSpPr/>
          <p:nvPr/>
        </p:nvGrpSpPr>
        <p:grpSpPr>
          <a:xfrm>
            <a:off x="6667500" y="1295400"/>
            <a:ext cx="4991100" cy="4610100"/>
            <a:chOff x="6667500" y="1295400"/>
            <a:chExt cx="4991100" cy="4610100"/>
          </a:xfrm>
        </p:grpSpPr>
        <p:sp>
          <p:nvSpPr>
            <p:cNvPr id="27" name="Rectangle 27"/>
            <p:cNvSpPr/>
            <p:nvPr/>
          </p:nvSpPr>
          <p:spPr>
            <a:xfrm>
              <a:off x="6667500" y="1295400"/>
              <a:ext cx="4991100" cy="4610100"/>
            </a:xfrm>
            <a:prstGeom prst="rect">
              <a:avLst/>
            </a:prstGeom>
            <a:noFill/>
            <a:ln w="19050">
              <a:solidFill>
                <a:srgbClr val="829AB1"/>
              </a:solidFill>
              <a:prstDash val="lgDash"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72248" y="3482340"/>
              <a:ext cx="25816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ja-JP" sz="1800" b="1" dirty="0">
                  <a:solidFill>
                    <a:srgbClr val="627D98"/>
                  </a:solidFill>
                  <a:latin typeface="+mn-lt"/>
                  <a:ea typeface="+mn-ea"/>
                  <a:cs typeface="+mn-cs"/>
                </a:rPr>
                <a:t>TODO: デモ動画、写真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528066" y="6535102"/>
            <a:ext cx="11135868" cy="205359"/>
            <a:chOff x="528066" y="6535102"/>
            <a:chExt cx="11135868" cy="205359"/>
          </a:xfrm>
        </p:grpSpPr>
        <p:sp>
          <p:nvSpPr>
            <p:cNvPr id="30" name="TextBox 30"/>
            <p:cNvSpPr txBox="1"/>
            <p:nvPr/>
          </p:nvSpPr>
          <p:spPr>
            <a:xfrm>
              <a:off x="528066" y="6535102"/>
              <a:ext cx="689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μAI-Studio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500861" y="6535102"/>
              <a:ext cx="16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33400" y="533400"/>
            <a:ext cx="4126300" cy="528257"/>
            <a:chOff x="533400" y="533400"/>
            <a:chExt cx="4126300" cy="528257"/>
          </a:xfrm>
        </p:grpSpPr>
        <p:sp>
          <p:nvSpPr>
            <p:cNvPr id="2" name="Rectangle 2"/>
            <p:cNvSpPr/>
            <p:nvPr/>
          </p:nvSpPr>
          <p:spPr>
            <a:xfrm>
              <a:off x="533400" y="533400"/>
              <a:ext cx="57150" cy="36195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996" y="562928"/>
              <a:ext cx="39297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5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μT-Kernel 3.0との関わり</a:t>
              </a:r>
            </a:p>
          </p:txBody>
        </p:sp>
      </p:grpSp>
      <p:grpSp>
        <p:nvGrpSpPr>
          <p:cNvPr id="12" name="kernel-band"/>
          <p:cNvGrpSpPr/>
          <p:nvPr/>
        </p:nvGrpSpPr>
        <p:grpSpPr>
          <a:xfrm>
            <a:off x="533400" y="1295400"/>
            <a:ext cx="2286000" cy="4565523"/>
            <a:chOff x="533400" y="1295400"/>
            <a:chExt cx="2286000" cy="4565523"/>
          </a:xfrm>
        </p:grpSpPr>
        <p:sp>
          <p:nvSpPr>
            <p:cNvPr id="5" name="Rectangle 5"/>
            <p:cNvSpPr/>
            <p:nvPr/>
          </p:nvSpPr>
          <p:spPr>
            <a:xfrm>
              <a:off x="533400" y="1295400"/>
              <a:ext cx="2286000" cy="4495800"/>
            </a:xfrm>
            <a:prstGeom prst="rect">
              <a:avLst/>
            </a:prstGeom>
            <a:solidFill>
              <a:srgbClr val="0B2A3C"/>
            </a:solidFill>
            <a:ln>
              <a:noFill/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19150" y="1619250"/>
              <a:ext cx="342900" cy="342900"/>
              <a:chOff x="819150" y="1619250"/>
              <a:chExt cx="342900" cy="3429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819150" y="17335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lnTo>
                      <a:pt x="57150" y="114300"/>
                    </a:lnTo>
                    <a:lnTo>
                      <a:pt x="114300" y="57150"/>
                    </a:lnTo>
                    <a:lnTo>
                      <a:pt x="57150" y="0"/>
                    </a:ln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9FC3D3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1047750" y="17335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lnTo>
                      <a:pt x="57150" y="114300"/>
                    </a:lnTo>
                    <a:lnTo>
                      <a:pt x="114300" y="57150"/>
                    </a:lnTo>
                    <a:lnTo>
                      <a:pt x="57150" y="0"/>
                    </a:ln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9FC3D3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33450" y="16192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lnTo>
                      <a:pt x="57150" y="114300"/>
                    </a:lnTo>
                    <a:lnTo>
                      <a:pt x="114300" y="57150"/>
                    </a:lnTo>
                    <a:lnTo>
                      <a:pt x="57150" y="0"/>
                    </a:ln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9FC3D3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33450" y="184785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57150"/>
                    </a:moveTo>
                    <a:lnTo>
                      <a:pt x="57150" y="114300"/>
                    </a:lnTo>
                    <a:lnTo>
                      <a:pt x="114300" y="57150"/>
                    </a:lnTo>
                    <a:lnTo>
                      <a:pt x="57150" y="0"/>
                    </a:lnTo>
                    <a:lnTo>
                      <a:pt x="0" y="57150"/>
                    </a:lnTo>
                  </a:path>
                </a:pathLst>
              </a:custGeom>
              <a:noFill/>
              <a:ln w="28575">
                <a:solidFill>
                  <a:srgbClr val="9FC3D3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751332" y="5107305"/>
              <a:ext cx="1244369" cy="7536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l-GR" sz="21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μT-Kernel</a:t>
              </a:r>
              <a:br/>
              <a:r>
                <a:rPr lang="ja-JP" sz="2100" b="1" dirty="0">
                  <a:solidFill>
                    <a:srgbClr val="9FC3D3"/>
                  </a:solidFill>
                  <a:latin typeface="+mn-lt"/>
                  <a:ea typeface="+mn-ea"/>
                  <a:cs typeface="+mn-cs"/>
                </a:rPr>
                <a:t>3.0</a:t>
              </a:r>
            </a:p>
          </p:txBody>
        </p:sp>
      </p:grpSp>
      <p:grpSp>
        <p:nvGrpSpPr>
          <p:cNvPr id="16" name="kernel-build"/>
          <p:cNvGrpSpPr/>
          <p:nvPr/>
        </p:nvGrpSpPr>
        <p:grpSpPr>
          <a:xfrm>
            <a:off x="2819400" y="1295400"/>
            <a:ext cx="8839200" cy="1066800"/>
            <a:chOff x="2819400" y="1295400"/>
            <a:chExt cx="8839200" cy="1066800"/>
          </a:xfrm>
        </p:grpSpPr>
        <p:sp>
          <p:nvSpPr>
            <p:cNvPr id="13" name="Rectangle 13"/>
            <p:cNvSpPr/>
            <p:nvPr/>
          </p:nvSpPr>
          <p:spPr>
            <a:xfrm>
              <a:off x="2819400" y="1295400"/>
              <a:ext cx="8839200" cy="1066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078480" y="17335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rgbClr val="0B6E8E"/>
                  </a:solidFill>
                  <a:latin typeface="+mn-lt"/>
                  <a:ea typeface="+mn-ea"/>
                  <a:cs typeface="+mn-cs"/>
                </a:rPr>
                <a:t>ビルド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564380" y="1733550"/>
              <a:ext cx="69941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μT-Kernel 3.0本体からアプリまでを、1つのCMakeプロジェクトでビルドする</a:t>
              </a:r>
            </a:p>
          </p:txBody>
        </p:sp>
      </p:grpSp>
      <p:grpSp>
        <p:nvGrpSpPr>
          <p:cNvPr id="20" name="kernel-hooks"/>
          <p:cNvGrpSpPr/>
          <p:nvPr/>
        </p:nvGrpSpPr>
        <p:grpSpPr>
          <a:xfrm>
            <a:off x="2819400" y="2438400"/>
            <a:ext cx="8839200" cy="1066800"/>
            <a:chOff x="2819400" y="2438400"/>
            <a:chExt cx="8839200" cy="1066800"/>
          </a:xfrm>
        </p:grpSpPr>
        <p:sp>
          <p:nvSpPr>
            <p:cNvPr id="17" name="Rectangle 17"/>
            <p:cNvSpPr/>
            <p:nvPr/>
          </p:nvSpPr>
          <p:spPr>
            <a:xfrm>
              <a:off x="2819400" y="2438400"/>
              <a:ext cx="8839200" cy="1066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078480" y="2876550"/>
              <a:ext cx="969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rgbClr val="0B6E8E"/>
                  </a:solidFill>
                  <a:latin typeface="+mn-lt"/>
                  <a:ea typeface="+mn-ea"/>
                  <a:cs typeface="+mn-cs"/>
                </a:rPr>
                <a:t>フックAPI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64380" y="2733675"/>
              <a:ext cx="5439004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宣言のみだったフックAPIを実装し、解析ツールの土台にした。</a:t>
              </a:r>
              <a:br/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μT-Kernel/DSの標準APIなので、ほかのアプリからも使える</a:t>
              </a:r>
            </a:p>
          </p:txBody>
        </p:sp>
      </p:grpSp>
      <p:grpSp>
        <p:nvGrpSpPr>
          <p:cNvPr id="24" name="kernel-tasks"/>
          <p:cNvGrpSpPr/>
          <p:nvPr/>
        </p:nvGrpSpPr>
        <p:grpSpPr>
          <a:xfrm>
            <a:off x="2819400" y="3581400"/>
            <a:ext cx="8839200" cy="1066800"/>
            <a:chOff x="2819400" y="3581400"/>
            <a:chExt cx="8839200" cy="1066800"/>
          </a:xfrm>
        </p:grpSpPr>
        <p:sp>
          <p:nvSpPr>
            <p:cNvPr id="21" name="Rectangle 21"/>
            <p:cNvSpPr/>
            <p:nvPr/>
          </p:nvSpPr>
          <p:spPr>
            <a:xfrm>
              <a:off x="2819400" y="3581400"/>
              <a:ext cx="8839200" cy="1066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078480" y="4019550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rgbClr val="0B6E8E"/>
                  </a:solidFill>
                  <a:latin typeface="+mn-lt"/>
                  <a:ea typeface="+mn-ea"/>
                  <a:cs typeface="+mn-cs"/>
                </a:rPr>
                <a:t>タスク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64380" y="4019550"/>
              <a:ext cx="47234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推論の各段階を、μT-Kernelのタスクとして実行する</a:t>
              </a:r>
            </a:p>
          </p:txBody>
        </p:sp>
      </p:grpSp>
      <p:grpSp>
        <p:nvGrpSpPr>
          <p:cNvPr id="28" name="kernel-drivers"/>
          <p:cNvGrpSpPr/>
          <p:nvPr/>
        </p:nvGrpSpPr>
        <p:grpSpPr>
          <a:xfrm>
            <a:off x="2819400" y="4724400"/>
            <a:ext cx="8839200" cy="1066800"/>
            <a:chOff x="2819400" y="4724400"/>
            <a:chExt cx="8839200" cy="1066800"/>
          </a:xfrm>
        </p:grpSpPr>
        <p:sp>
          <p:nvSpPr>
            <p:cNvPr id="25" name="Rectangle 25"/>
            <p:cNvSpPr/>
            <p:nvPr/>
          </p:nvSpPr>
          <p:spPr>
            <a:xfrm>
              <a:off x="2819400" y="4724400"/>
              <a:ext cx="8839200" cy="1066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078480" y="516255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rgbClr val="0B6E8E"/>
                  </a:solidFill>
                  <a:latin typeface="+mn-lt"/>
                  <a:ea typeface="+mn-ea"/>
                  <a:cs typeface="+mn-cs"/>
                </a:rPr>
                <a:t>ドライバ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64380" y="5019675"/>
              <a:ext cx="4896212" cy="5981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カメラ、LCD、NPU、NOR Flash、PSRAMのドライバを、</a:t>
              </a:r>
              <a:br/>
              <a:r>
                <a:rPr lang="ja-JP" sz="150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μT-Kernel上で動くように整えた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066" y="6535102"/>
            <a:ext cx="11135868" cy="205359"/>
            <a:chOff x="528066" y="6535102"/>
            <a:chExt cx="11135868" cy="205359"/>
          </a:xfrm>
        </p:grpSpPr>
        <p:sp>
          <p:nvSpPr>
            <p:cNvPr id="29" name="TextBox 29"/>
            <p:cNvSpPr txBox="1"/>
            <p:nvPr/>
          </p:nvSpPr>
          <p:spPr>
            <a:xfrm>
              <a:off x="528066" y="6535102"/>
              <a:ext cx="689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μAI-Studio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500861" y="6535102"/>
              <a:ext cx="16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33400" y="533400"/>
            <a:ext cx="1938909" cy="528257"/>
            <a:chOff x="533400" y="533400"/>
            <a:chExt cx="1938909" cy="528257"/>
          </a:xfrm>
        </p:grpSpPr>
        <p:sp>
          <p:nvSpPr>
            <p:cNvPr id="2" name="Rectangle 2"/>
            <p:cNvSpPr/>
            <p:nvPr/>
          </p:nvSpPr>
          <p:spPr>
            <a:xfrm>
              <a:off x="533400" y="533400"/>
              <a:ext cx="57150" cy="36195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996" y="5629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5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今後の展望</a:t>
              </a:r>
            </a:p>
          </p:txBody>
        </p:sp>
      </p:grpSp>
      <p:grpSp>
        <p:nvGrpSpPr>
          <p:cNvPr id="16" name="future-model"/>
          <p:cNvGrpSpPr/>
          <p:nvPr/>
        </p:nvGrpSpPr>
        <p:grpSpPr>
          <a:xfrm>
            <a:off x="533400" y="1295400"/>
            <a:ext cx="5467350" cy="2247900"/>
            <a:chOff x="533400" y="1295400"/>
            <a:chExt cx="5467350" cy="2247900"/>
          </a:xfrm>
        </p:grpSpPr>
        <p:sp>
          <p:nvSpPr>
            <p:cNvPr id="5" name="Rectangle 5"/>
            <p:cNvSpPr/>
            <p:nvPr/>
          </p:nvSpPr>
          <p:spPr>
            <a:xfrm>
              <a:off x="533400" y="1295400"/>
              <a:ext cx="5467350" cy="2247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33400" y="1295400"/>
              <a:ext cx="5467350" cy="3810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847725" y="1609725"/>
              <a:ext cx="285751" cy="285750"/>
              <a:chOff x="847725" y="1609725"/>
              <a:chExt cx="285751" cy="2857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90600" y="1768475"/>
                <a:ext cx="1111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27000">
                    <a:moveTo>
                      <a:pt x="55563" y="0"/>
                    </a:moveTo>
                    <a:cubicBezTo>
                      <a:pt x="24876" y="0"/>
                      <a:pt x="0" y="24876"/>
                      <a:pt x="0" y="55563"/>
                    </a:cubicBezTo>
                    <a:lnTo>
                      <a:pt x="0" y="71438"/>
                    </a:lnTo>
                    <a:cubicBezTo>
                      <a:pt x="0" y="102124"/>
                      <a:pt x="24876" y="127000"/>
                      <a:pt x="55563" y="127000"/>
                    </a:cubicBezTo>
                    <a:cubicBezTo>
                      <a:pt x="86249" y="127000"/>
                      <a:pt x="111125" y="102124"/>
                      <a:pt x="111125" y="71438"/>
                    </a:cubicBezTo>
                    <a:lnTo>
                      <a:pt x="111125" y="42863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879475" y="1768475"/>
                <a:ext cx="1111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27000">
                    <a:moveTo>
                      <a:pt x="55563" y="0"/>
                    </a:moveTo>
                    <a:cubicBezTo>
                      <a:pt x="86249" y="0"/>
                      <a:pt x="111125" y="24876"/>
                      <a:pt x="111125" y="55563"/>
                    </a:cubicBezTo>
                    <a:lnTo>
                      <a:pt x="111125" y="71438"/>
                    </a:lnTo>
                    <a:cubicBezTo>
                      <a:pt x="111125" y="102124"/>
                      <a:pt x="86249" y="127000"/>
                      <a:pt x="55563" y="127000"/>
                    </a:cubicBezTo>
                    <a:cubicBezTo>
                      <a:pt x="24876" y="127000"/>
                      <a:pt x="0" y="102124"/>
                      <a:pt x="0" y="71438"/>
                    </a:cubicBezTo>
                    <a:lnTo>
                      <a:pt x="0" y="42863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69976" y="1704975"/>
                <a:ext cx="6350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11125">
                    <a:moveTo>
                      <a:pt x="7938" y="111125"/>
                    </a:moveTo>
                    <a:cubicBezTo>
                      <a:pt x="38624" y="111125"/>
                      <a:pt x="63500" y="86249"/>
                      <a:pt x="63500" y="55563"/>
                    </a:cubicBezTo>
                    <a:cubicBezTo>
                      <a:pt x="63500" y="24876"/>
                      <a:pt x="38624" y="0"/>
                      <a:pt x="7938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90600" y="1609725"/>
                <a:ext cx="111125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00013">
                    <a:moveTo>
                      <a:pt x="111125" y="100013"/>
                    </a:moveTo>
                    <a:lnTo>
                      <a:pt x="111125" y="55563"/>
                    </a:lnTo>
                    <a:cubicBezTo>
                      <a:pt x="111125" y="24876"/>
                      <a:pt x="86249" y="0"/>
                      <a:pt x="55563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47725" y="1704975"/>
                <a:ext cx="6350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111125">
                    <a:moveTo>
                      <a:pt x="55563" y="111125"/>
                    </a:moveTo>
                    <a:cubicBezTo>
                      <a:pt x="24876" y="111125"/>
                      <a:pt x="0" y="86249"/>
                      <a:pt x="0" y="55563"/>
                    </a:cubicBezTo>
                    <a:cubicBezTo>
                      <a:pt x="0" y="24876"/>
                      <a:pt x="24876" y="0"/>
                      <a:pt x="55563" y="0"/>
                    </a:cubicBez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879475" y="1609725"/>
                <a:ext cx="111125" cy="214313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214313">
                    <a:moveTo>
                      <a:pt x="0" y="100013"/>
                    </a:moveTo>
                    <a:lnTo>
                      <a:pt x="0" y="55563"/>
                    </a:lnTo>
                    <a:cubicBezTo>
                      <a:pt x="0" y="24876"/>
                      <a:pt x="24876" y="0"/>
                      <a:pt x="55563" y="0"/>
                    </a:cubicBezTo>
                    <a:cubicBezTo>
                      <a:pt x="86249" y="0"/>
                      <a:pt x="111125" y="24876"/>
                      <a:pt x="111125" y="55563"/>
                    </a:cubicBezTo>
                    <a:lnTo>
                      <a:pt x="111125" y="214313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287018" y="1650682"/>
              <a:ext cx="29216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AIモデルの作成から支援する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93242" y="2292668"/>
              <a:ext cx="412851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ja-JP" sz="135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ボードのカメラで撮った画像を集め、学習、量子化、</a:t>
              </a:r>
              <a:br/>
              <a:r>
                <a:rPr lang="ja-JP" sz="135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NPU向け変換、配置、書き込みまでをつなげる</a:t>
              </a:r>
            </a:p>
          </p:txBody>
        </p:sp>
      </p:grpSp>
      <p:grpSp>
        <p:nvGrpSpPr>
          <p:cNvPr id="31" name="future-agent"/>
          <p:cNvGrpSpPr/>
          <p:nvPr/>
        </p:nvGrpSpPr>
        <p:grpSpPr>
          <a:xfrm>
            <a:off x="6191250" y="1295400"/>
            <a:ext cx="5467350" cy="2247900"/>
            <a:chOff x="6191250" y="1295400"/>
            <a:chExt cx="5467350" cy="2247900"/>
          </a:xfrm>
        </p:grpSpPr>
        <p:sp>
          <p:nvSpPr>
            <p:cNvPr id="17" name="Rectangle 17"/>
            <p:cNvSpPr/>
            <p:nvPr/>
          </p:nvSpPr>
          <p:spPr>
            <a:xfrm>
              <a:off x="6191250" y="1295400"/>
              <a:ext cx="5467350" cy="2247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191250" y="1295400"/>
              <a:ext cx="5467350" cy="3810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6537325" y="1593850"/>
              <a:ext cx="222250" cy="301625"/>
              <a:chOff x="6537325" y="1593850"/>
              <a:chExt cx="222250" cy="301625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6553200" y="1625600"/>
                <a:ext cx="190500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27000">
                    <a:moveTo>
                      <a:pt x="0" y="31750"/>
                    </a:moveTo>
                    <a:cubicBezTo>
                      <a:pt x="0" y="14215"/>
                      <a:pt x="14215" y="0"/>
                      <a:pt x="31750" y="0"/>
                    </a:cubicBezTo>
                    <a:lnTo>
                      <a:pt x="158750" y="0"/>
                    </a:lnTo>
                    <a:cubicBezTo>
                      <a:pt x="176285" y="0"/>
                      <a:pt x="190500" y="14215"/>
                      <a:pt x="190500" y="31750"/>
                    </a:cubicBezTo>
                    <a:lnTo>
                      <a:pt x="190500" y="95250"/>
                    </a:lnTo>
                    <a:cubicBezTo>
                      <a:pt x="190500" y="112785"/>
                      <a:pt x="176285" y="127000"/>
                      <a:pt x="158750" y="127000"/>
                    </a:cubicBezTo>
                    <a:lnTo>
                      <a:pt x="31750" y="127000"/>
                    </a:lnTo>
                    <a:cubicBezTo>
                      <a:pt x="14215" y="127000"/>
                      <a:pt x="0" y="112785"/>
                      <a:pt x="0" y="95250"/>
                    </a:cubicBez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6648450" y="1593850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6600825" y="175260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6696075" y="1752600"/>
                <a:ext cx="9525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2875">
                    <a:moveTo>
                      <a:pt x="0" y="0"/>
                    </a:moveTo>
                    <a:lnTo>
                      <a:pt x="0" y="142875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537325" y="1784350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31750"/>
                    </a:moveTo>
                    <a:lnTo>
                      <a:pt x="63500" y="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696075" y="1784350"/>
                <a:ext cx="6350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31750">
                    <a:moveTo>
                      <a:pt x="0" y="0"/>
                    </a:moveTo>
                    <a:lnTo>
                      <a:pt x="63500" y="3175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600825" y="1847851"/>
                <a:ext cx="95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">
                    <a:moveTo>
                      <a:pt x="0" y="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616700" y="1689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680200" y="1689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59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6944868" y="1650682"/>
              <a:ext cx="403224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AIエージェントによる性能チューニング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51092" y="2292668"/>
              <a:ext cx="4284724" cy="8355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ja-JP" sz="135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モニターの記録はJSONで出力している。</a:t>
              </a:r>
              <a:br/>
              <a:r>
                <a:rPr lang="ja-JP" sz="135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AIエージェントがこれを読んでボトルネックを見つけ、</a:t>
              </a:r>
              <a:br/>
              <a:r>
                <a:rPr lang="ja-JP" sz="135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改善案を実機で試す流れを作る</a:t>
              </a:r>
            </a:p>
          </p:txBody>
        </p:sp>
      </p:grpSp>
      <p:grpSp>
        <p:nvGrpSpPr>
          <p:cNvPr id="47" name="future-boards"/>
          <p:cNvGrpSpPr/>
          <p:nvPr/>
        </p:nvGrpSpPr>
        <p:grpSpPr>
          <a:xfrm>
            <a:off x="533400" y="3733800"/>
            <a:ext cx="5467350" cy="2247900"/>
            <a:chOff x="533400" y="3733800"/>
            <a:chExt cx="5467350" cy="2247900"/>
          </a:xfrm>
        </p:grpSpPr>
        <p:sp>
          <p:nvSpPr>
            <p:cNvPr id="32" name="Rectangle 32"/>
            <p:cNvSpPr/>
            <p:nvPr/>
          </p:nvSpPr>
          <p:spPr>
            <a:xfrm>
              <a:off x="533400" y="3733800"/>
              <a:ext cx="5467350" cy="2247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33400" y="3733800"/>
              <a:ext cx="5467350" cy="3810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847725" y="4048125"/>
              <a:ext cx="285751" cy="285751"/>
              <a:chOff x="847725" y="4048125"/>
              <a:chExt cx="285751" cy="285751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879475" y="4079875"/>
                <a:ext cx="222250" cy="222250"/>
              </a:xfrm>
              <a:custGeom>
                <a:avLst/>
                <a:gdLst/>
                <a:ahLst/>
                <a:cxnLst/>
                <a:rect l="l" t="t" r="r" b="b"/>
                <a:pathLst>
                  <a:path w="222250" h="222250">
                    <a:moveTo>
                      <a:pt x="0" y="15875"/>
                    </a:moveTo>
                    <a:cubicBezTo>
                      <a:pt x="0" y="7107"/>
                      <a:pt x="7107" y="0"/>
                      <a:pt x="15875" y="0"/>
                    </a:cubicBezTo>
                    <a:lnTo>
                      <a:pt x="206375" y="0"/>
                    </a:lnTo>
                    <a:cubicBezTo>
                      <a:pt x="215143" y="0"/>
                      <a:pt x="222250" y="7107"/>
                      <a:pt x="222250" y="15875"/>
                    </a:cubicBezTo>
                    <a:lnTo>
                      <a:pt x="222250" y="206375"/>
                    </a:lnTo>
                    <a:cubicBezTo>
                      <a:pt x="222250" y="215143"/>
                      <a:pt x="215143" y="222250"/>
                      <a:pt x="206375" y="222250"/>
                    </a:cubicBezTo>
                    <a:lnTo>
                      <a:pt x="15875" y="222250"/>
                    </a:lnTo>
                    <a:cubicBezTo>
                      <a:pt x="7107" y="222250"/>
                      <a:pt x="0" y="215143"/>
                      <a:pt x="0" y="206375"/>
                    </a:cubicBezTo>
                    <a:lnTo>
                      <a:pt x="0" y="15875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42975" y="41433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0"/>
                    </a:lnTo>
                    <a:lnTo>
                      <a:pt x="95250" y="95250"/>
                    </a:lnTo>
                    <a:lnTo>
                      <a:pt x="0" y="95250"/>
                    </a:ln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47725" y="41592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47725" y="42227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0" y="0"/>
                    </a:moveTo>
                    <a:lnTo>
                      <a:pt x="31750" y="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958850" y="404812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1022350" y="4048125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0"/>
                    </a:moveTo>
                    <a:lnTo>
                      <a:pt x="0" y="3175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1101726" y="41592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31750" y="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1101726" y="4222750"/>
                <a:ext cx="31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9525">
                    <a:moveTo>
                      <a:pt x="31750" y="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1022350" y="4302126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58850" y="4302126"/>
                <a:ext cx="95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1750">
                    <a:moveTo>
                      <a:pt x="0" y="31750"/>
                    </a:moveTo>
                    <a:lnTo>
                      <a:pt x="0" y="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287018" y="4089082"/>
              <a:ext cx="20158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対応ボードを増やす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3242" y="4731068"/>
              <a:ext cx="2756076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ja-JP" sz="135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CMakeベースの構成を活かし、</a:t>
              </a:r>
              <a:br/>
              <a:r>
                <a:rPr lang="ja-JP" sz="135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ほかのNPU搭載マイコンにも広げる</a:t>
              </a:r>
            </a:p>
          </p:txBody>
        </p:sp>
      </p:grpSp>
      <p:grpSp>
        <p:nvGrpSpPr>
          <p:cNvPr id="59" name="future-upstream"/>
          <p:cNvGrpSpPr/>
          <p:nvPr/>
        </p:nvGrpSpPr>
        <p:grpSpPr>
          <a:xfrm>
            <a:off x="6191250" y="3733800"/>
            <a:ext cx="5467350" cy="2247900"/>
            <a:chOff x="6191250" y="3733800"/>
            <a:chExt cx="5467350" cy="2247900"/>
          </a:xfrm>
        </p:grpSpPr>
        <p:sp>
          <p:nvSpPr>
            <p:cNvPr id="48" name="Rectangle 48"/>
            <p:cNvSpPr/>
            <p:nvPr/>
          </p:nvSpPr>
          <p:spPr>
            <a:xfrm>
              <a:off x="6191250" y="3733800"/>
              <a:ext cx="5467350" cy="2247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191250" y="3733800"/>
              <a:ext cx="5467350" cy="3810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6521450" y="4048125"/>
              <a:ext cx="254001" cy="269876"/>
              <a:chOff x="6521450" y="4048125"/>
              <a:chExt cx="254001" cy="26987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521450" y="4254501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6521450" y="4064000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711951" y="4254501"/>
                <a:ext cx="63500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63500" h="63500">
                    <a:moveTo>
                      <a:pt x="0" y="31750"/>
                    </a:moveTo>
                    <a:cubicBezTo>
                      <a:pt x="0" y="49285"/>
                      <a:pt x="14215" y="63500"/>
                      <a:pt x="31750" y="63500"/>
                    </a:cubicBezTo>
                    <a:cubicBezTo>
                      <a:pt x="49285" y="63500"/>
                      <a:pt x="63500" y="49285"/>
                      <a:pt x="63500" y="31750"/>
                    </a:cubicBezTo>
                    <a:cubicBezTo>
                      <a:pt x="63500" y="14215"/>
                      <a:pt x="49285" y="0"/>
                      <a:pt x="31750" y="0"/>
                    </a:cubicBezTo>
                    <a:cubicBezTo>
                      <a:pt x="14215" y="0"/>
                      <a:pt x="0" y="14215"/>
                      <a:pt x="0" y="31750"/>
                    </a:cubicBez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553200" y="4127500"/>
                <a:ext cx="95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7000">
                    <a:moveTo>
                      <a:pt x="0" y="0"/>
                    </a:moveTo>
                    <a:lnTo>
                      <a:pt x="0" y="12700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6632575" y="4095750"/>
                <a:ext cx="111125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58750">
                    <a:moveTo>
                      <a:pt x="0" y="0"/>
                    </a:moveTo>
                    <a:lnTo>
                      <a:pt x="79375" y="0"/>
                    </a:lnTo>
                    <a:cubicBezTo>
                      <a:pt x="96910" y="0"/>
                      <a:pt x="111125" y="14215"/>
                      <a:pt x="111125" y="31750"/>
                    </a:cubicBezTo>
                    <a:lnTo>
                      <a:pt x="111125" y="15875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632575" y="4048125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47625" y="95250"/>
                    </a:moveTo>
                    <a:lnTo>
                      <a:pt x="0" y="47625"/>
                    </a:lnTo>
                    <a:lnTo>
                      <a:pt x="47625" y="0"/>
                    </a:lnTo>
                  </a:path>
                </a:pathLst>
              </a:custGeom>
              <a:noFill/>
              <a:ln w="31750">
                <a:solidFill>
                  <a:srgbClr val="0B6E8E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6944868" y="4089082"/>
              <a:ext cx="23825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6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μT-Kernel本体への還元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451092" y="4731068"/>
              <a:ext cx="3116121" cy="5497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ja-JP" sz="135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フックAPIの実装を、TRONフォーラムの</a:t>
              </a:r>
              <a:br/>
              <a:r>
                <a:rPr lang="ja-JP" sz="1350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上流リポジトリへ提案する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066" y="6535102"/>
            <a:ext cx="11135868" cy="205359"/>
            <a:chOff x="528066" y="6535102"/>
            <a:chExt cx="11135868" cy="205359"/>
          </a:xfrm>
        </p:grpSpPr>
        <p:sp>
          <p:nvSpPr>
            <p:cNvPr id="60" name="TextBox 60"/>
            <p:cNvSpPr txBox="1"/>
            <p:nvPr/>
          </p:nvSpPr>
          <p:spPr>
            <a:xfrm>
              <a:off x="528066" y="6535102"/>
              <a:ext cx="689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μAI-Studio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0861" y="6535102"/>
              <a:ext cx="16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title"/>
          <p:cNvGrpSpPr/>
          <p:nvPr/>
        </p:nvGrpSpPr>
        <p:grpSpPr>
          <a:xfrm>
            <a:off x="533400" y="533400"/>
            <a:ext cx="1252347" cy="528257"/>
            <a:chOff x="533400" y="533400"/>
            <a:chExt cx="1252347" cy="528257"/>
          </a:xfrm>
        </p:grpSpPr>
        <p:sp>
          <p:nvSpPr>
            <p:cNvPr id="2" name="Rectangle 2"/>
            <p:cNvSpPr/>
            <p:nvPr/>
          </p:nvSpPr>
          <p:spPr>
            <a:xfrm>
              <a:off x="533400" y="533400"/>
              <a:ext cx="57150" cy="361950"/>
            </a:xfrm>
            <a:prstGeom prst="rect">
              <a:avLst/>
            </a:prstGeom>
            <a:solidFill>
              <a:srgbClr val="0B6E8E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29996" y="5629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2550" b="1" dirty="0">
                  <a:solidFill>
                    <a:srgbClr val="102A43"/>
                  </a:solidFill>
                  <a:latin typeface="+mn-lt"/>
                  <a:ea typeface="+mn-ea"/>
                  <a:cs typeface="+mn-cs"/>
                </a:rPr>
                <a:t>まとめ</a:t>
              </a:r>
            </a:p>
          </p:txBody>
        </p:sp>
      </p:grpSp>
      <p:graphicFrame>
        <p:nvGraphicFramePr>
          <p:cNvPr id="5" name="p23-summary"/>
          <p:cNvGraphicFramePr>
            <a:graphicFrameLocks noGrp="1"/>
          </p:cNvGraphicFramePr>
          <p:nvPr/>
        </p:nvGraphicFramePr>
        <p:xfrm>
          <a:off x="533400" y="1295400"/>
          <a:ext cx="11125200" cy="32385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619500"/>
                <a:gridCol w="7505700"/>
              </a:tblGrid>
              <a:tr h="495300">
                <a:tc>
                  <a:txBody>
                    <a:bodyPr/>
                    <a:lstStyle/>
                    <a:p>
                      <a:pPr/>
                      <a:r>
                        <a:rPr lang="ja-JP" sz="1350" b="1">
                          <a:solidFill>
                            <a:srgbClr val="FFFFFF"/>
                          </a:solidFill>
                          <a:latin typeface="Segoe UI"/>
                          <a:ea typeface="Meiryo"/>
                          <a:cs typeface="Segoe UI"/>
                        </a:rPr>
                        <a:t>課題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627D9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350" b="1">
                          <a:solidFill>
                            <a:srgbClr val="FFFFFF"/>
                          </a:solidFill>
                          <a:latin typeface="Segoe UI"/>
                          <a:ea typeface="Meiryo"/>
                          <a:cs typeface="Segoe UI"/>
                        </a:rPr>
                        <a:t>解決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B6E8E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ja-JP" sz="1350" b="0">
                          <a:solidFill>
                            <a:srgbClr val="486581"/>
                          </a:solidFill>
                          <a:latin typeface="Segoe UI"/>
                          <a:ea typeface="Meiryo"/>
                          <a:cs typeface="Segoe UI"/>
                        </a:rPr>
                        <a:t>IDEとGUIに縛られる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350" b="1">
                          <a:solidFill>
                            <a:srgbClr val="0B2A3C"/>
                          </a:solidFill>
                          <a:latin typeface="Segoe UI"/>
                          <a:ea typeface="Meiryo"/>
                          <a:cs typeface="Segoe UI"/>
                        </a:rPr>
                        <a:t>CMakeとMakeによるCLIで、どのエディタやAIエージェントからも開発できる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6F1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ja-JP" sz="1350" b="0">
                          <a:solidFill>
                            <a:srgbClr val="486581"/>
                          </a:solidFill>
                          <a:latin typeface="Segoe UI"/>
                          <a:ea typeface="Meiryo"/>
                          <a:cs typeface="Segoe UI"/>
                        </a:rPr>
                        <a:t>メモリ配置が手作業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350" b="1">
                          <a:solidFill>
                            <a:srgbClr val="0B2A3C"/>
                          </a:solidFill>
                          <a:latin typeface="Segoe UI"/>
                          <a:ea typeface="Meiryo"/>
                          <a:cs typeface="Segoe UI"/>
                        </a:rPr>
                        <a:t>配置を生成し、不整合をビルド時に検出する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6F1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ja-JP" sz="1350" b="0">
                          <a:solidFill>
                            <a:srgbClr val="486581"/>
                          </a:solidFill>
                          <a:latin typeface="Segoe UI"/>
                          <a:ea typeface="Meiryo"/>
                          <a:cs typeface="Segoe UI"/>
                        </a:rPr>
                        <a:t>NPUとRTOSを組み合わせる基盤がない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350" b="1">
                          <a:solidFill>
                            <a:srgbClr val="0B2A3C"/>
                          </a:solidFill>
                          <a:latin typeface="Segoe UI"/>
                          <a:ea typeface="Meiryo"/>
                          <a:cs typeface="Segoe UI"/>
                        </a:rPr>
                        <a:t>μT-Kernel向けAIミドルウェア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6F1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/>
                      <a:r>
                        <a:rPr lang="ja-JP" sz="1350" b="0">
                          <a:solidFill>
                            <a:srgbClr val="486581"/>
                          </a:solidFill>
                          <a:latin typeface="Segoe UI"/>
                          <a:ea typeface="Meiryo"/>
                          <a:cs typeface="Segoe UI"/>
                        </a:rPr>
                        <a:t>実行状況が見えない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ja-JP" sz="1350" b="1">
                          <a:solidFill>
                            <a:srgbClr val="0B2A3C"/>
                          </a:solidFill>
                          <a:latin typeface="Segoe UI"/>
                          <a:ea typeface="Meiryo"/>
                          <a:cs typeface="Segoe UI"/>
                        </a:rPr>
                        <a:t>フックAPIを実装し、CPUとNPUを可視化する</a:t>
                      </a:r>
                    </a:p>
                  </a:txBody>
                  <a:tcPr anchor="ctr" marL="228600" marR="228600" marT="38100" marB="381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>
                      <a:solidFill>
                        <a:srgbClr val="D9E2EC"/>
                      </a:solidFill>
                      <a:prstDash val="solid"/>
                    </a:lnB>
                    <a:solidFill>
                      <a:srgbClr val="E6F1F5"/>
                    </a:solidFill>
                  </a:tcPr>
                </a:tc>
              </a:tr>
            </a:tbl>
          </a:graphicData>
        </a:graphic>
      </p:graphicFrame>
      <p:grpSp>
        <p:nvGrpSpPr>
          <p:cNvPr id="10" name="release"/>
          <p:cNvGrpSpPr/>
          <p:nvPr/>
        </p:nvGrpSpPr>
        <p:grpSpPr>
          <a:xfrm>
            <a:off x="533400" y="4914900"/>
            <a:ext cx="11125200" cy="914400"/>
            <a:chOff x="533400" y="4914900"/>
            <a:chExt cx="11125200" cy="914400"/>
          </a:xfrm>
        </p:grpSpPr>
        <p:sp>
          <p:nvSpPr>
            <p:cNvPr id="6" name="Rectangle 6"/>
            <p:cNvSpPr/>
            <p:nvPr/>
          </p:nvSpPr>
          <p:spPr>
            <a:xfrm>
              <a:off x="533400" y="4914900"/>
              <a:ext cx="11125200" cy="914400"/>
            </a:xfrm>
            <a:prstGeom prst="rect">
              <a:avLst/>
            </a:prstGeom>
            <a:solidFill>
              <a:srgbClr val="0B2A3C"/>
            </a:solidFill>
            <a:ln>
              <a:noFill/>
            </a:ln>
          </p:spPr>
        </p:sp>
        <p:sp>
          <p:nvSpPr>
            <p:cNvPr id="7" name="Freeform 7"/>
            <p:cNvSpPr/>
            <p:nvPr/>
          </p:nvSpPr>
          <p:spPr>
            <a:xfrm>
              <a:off x="838200" y="5149158"/>
              <a:ext cx="457200" cy="447637"/>
            </a:xfrm>
            <a:custGeom>
              <a:avLst/>
              <a:gdLst/>
              <a:ahLst/>
              <a:cxnLst/>
              <a:rect l="l" t="t" r="r" b="b"/>
              <a:pathLst>
                <a:path w="457200" h="447637">
                  <a:moveTo>
                    <a:pt x="228600" y="0"/>
                  </a:moveTo>
                  <a:cubicBezTo>
                    <a:pt x="102298" y="0"/>
                    <a:pt x="0" y="102356"/>
                    <a:pt x="0" y="228600"/>
                  </a:cubicBezTo>
                  <a:cubicBezTo>
                    <a:pt x="0" y="329622"/>
                    <a:pt x="65494" y="415290"/>
                    <a:pt x="156305" y="445484"/>
                  </a:cubicBezTo>
                  <a:cubicBezTo>
                    <a:pt x="167735" y="447637"/>
                    <a:pt x="171926" y="440569"/>
                    <a:pt x="171926" y="434492"/>
                  </a:cubicBezTo>
                  <a:cubicBezTo>
                    <a:pt x="171926" y="429063"/>
                    <a:pt x="171736" y="414680"/>
                    <a:pt x="171640" y="395630"/>
                  </a:cubicBezTo>
                  <a:cubicBezTo>
                    <a:pt x="108052" y="409423"/>
                    <a:pt x="94640" y="364960"/>
                    <a:pt x="94640" y="364960"/>
                  </a:cubicBezTo>
                  <a:cubicBezTo>
                    <a:pt x="84239" y="338576"/>
                    <a:pt x="69209" y="331527"/>
                    <a:pt x="69209" y="331527"/>
                  </a:cubicBezTo>
                  <a:cubicBezTo>
                    <a:pt x="48501" y="317354"/>
                    <a:pt x="70809" y="317640"/>
                    <a:pt x="70809" y="317640"/>
                  </a:cubicBezTo>
                  <a:cubicBezTo>
                    <a:pt x="93764" y="319240"/>
                    <a:pt x="105823" y="341185"/>
                    <a:pt x="105823" y="341185"/>
                  </a:cubicBezTo>
                  <a:cubicBezTo>
                    <a:pt x="126206" y="376142"/>
                    <a:pt x="159334" y="366046"/>
                    <a:pt x="172402" y="360197"/>
                  </a:cubicBezTo>
                  <a:cubicBezTo>
                    <a:pt x="174460" y="345415"/>
                    <a:pt x="180346" y="335337"/>
                    <a:pt x="186881" y="329622"/>
                  </a:cubicBezTo>
                  <a:cubicBezTo>
                    <a:pt x="136112" y="323907"/>
                    <a:pt x="82753" y="304248"/>
                    <a:pt x="82753" y="216656"/>
                  </a:cubicBezTo>
                  <a:cubicBezTo>
                    <a:pt x="82753" y="191700"/>
                    <a:pt x="91611" y="171317"/>
                    <a:pt x="106280" y="155315"/>
                  </a:cubicBezTo>
                  <a:cubicBezTo>
                    <a:pt x="103708" y="149542"/>
                    <a:pt x="95993" y="126301"/>
                    <a:pt x="108280" y="94812"/>
                  </a:cubicBezTo>
                  <a:cubicBezTo>
                    <a:pt x="108280" y="94812"/>
                    <a:pt x="127425" y="88678"/>
                    <a:pt x="171145" y="118243"/>
                  </a:cubicBezTo>
                  <a:cubicBezTo>
                    <a:pt x="189433" y="113157"/>
                    <a:pt x="208864" y="110642"/>
                    <a:pt x="228295" y="110528"/>
                  </a:cubicBezTo>
                  <a:cubicBezTo>
                    <a:pt x="247726" y="110642"/>
                    <a:pt x="267157" y="113157"/>
                    <a:pt x="285445" y="118243"/>
                  </a:cubicBezTo>
                  <a:cubicBezTo>
                    <a:pt x="328879" y="88678"/>
                    <a:pt x="348024" y="94812"/>
                    <a:pt x="348024" y="94812"/>
                  </a:cubicBezTo>
                  <a:cubicBezTo>
                    <a:pt x="360312" y="126301"/>
                    <a:pt x="352596" y="149542"/>
                    <a:pt x="350310" y="155315"/>
                  </a:cubicBezTo>
                  <a:cubicBezTo>
                    <a:pt x="364884" y="171317"/>
                    <a:pt x="373742" y="191700"/>
                    <a:pt x="373742" y="216656"/>
                  </a:cubicBezTo>
                  <a:cubicBezTo>
                    <a:pt x="373742" y="304476"/>
                    <a:pt x="320307" y="323812"/>
                    <a:pt x="269443" y="329432"/>
                  </a:cubicBezTo>
                  <a:cubicBezTo>
                    <a:pt x="277444" y="336290"/>
                    <a:pt x="284874" y="350310"/>
                    <a:pt x="284874" y="371723"/>
                  </a:cubicBezTo>
                  <a:cubicBezTo>
                    <a:pt x="284874" y="402317"/>
                    <a:pt x="284588" y="426891"/>
                    <a:pt x="284588" y="434321"/>
                  </a:cubicBezTo>
                  <a:cubicBezTo>
                    <a:pt x="284588" y="440322"/>
                    <a:pt x="288588" y="447465"/>
                    <a:pt x="300304" y="445179"/>
                  </a:cubicBezTo>
                  <a:cubicBezTo>
                    <a:pt x="391763" y="415195"/>
                    <a:pt x="457200" y="329470"/>
                    <a:pt x="457200" y="228600"/>
                  </a:cubicBezTo>
                  <a:cubicBezTo>
                    <a:pt x="457200" y="102356"/>
                    <a:pt x="354844" y="0"/>
                    <a:pt x="22860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516380" y="5153025"/>
              <a:ext cx="323906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ja-JP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MITライセンスで公開（自作部分）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16380" y="5476875"/>
              <a:ext cx="40134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9FC3D3"/>
                  </a:solidFill>
                  <a:latin typeface="Consolas"/>
                  <a:ea typeface="Consolas"/>
                  <a:cs typeface="Consolas"/>
                  <a:hlinkClick r:id="rId2"/>
                </a:rPr>
                <a:t>https://github.com/kons-9/uai-studio</a:t>
              </a:r>
            </a:p>
          </p:txBody>
        </p:sp>
      </p:grpSp>
      <p:grpSp>
        <p:nvGrpSpPr>
          <p:cNvPr id="13" name="footer"/>
          <p:cNvGrpSpPr/>
          <p:nvPr/>
        </p:nvGrpSpPr>
        <p:grpSpPr>
          <a:xfrm>
            <a:off x="528066" y="6535102"/>
            <a:ext cx="11135868" cy="205359"/>
            <a:chOff x="528066" y="6535102"/>
            <a:chExt cx="11135868" cy="205359"/>
          </a:xfrm>
        </p:grpSpPr>
        <p:sp>
          <p:nvSpPr>
            <p:cNvPr id="11" name="TextBox 11"/>
            <p:cNvSpPr txBox="1"/>
            <p:nvPr/>
          </p:nvSpPr>
          <p:spPr>
            <a:xfrm>
              <a:off x="528066" y="6535102"/>
              <a:ext cx="6895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μAI-Studio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500861" y="6535102"/>
              <a:ext cx="1630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ja-JP" sz="1050" dirty="0">
                  <a:solidFill>
                    <a:srgbClr val="829AB1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uai-studio">
  <a:themeElements>
    <a:clrScheme name="uai-stud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ai-studio">
      <a:majorFont>
        <a:latin typeface="Segoe UI"/>
        <a:ea typeface="Meiryo"/>
        <a:cs typeface="Segoe UI"/>
        <a:font script="Jpan" typeface="Meiryo"/>
        <a:font script="Hang" typeface="Meiryo"/>
        <a:font script="Hans" typeface="Meiryo"/>
        <a:font script="Hant" typeface="Meiryo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eiryo"/>
        <a:cs typeface="Segoe UI"/>
        <a:font script="Jpan" typeface="Meiryo"/>
        <a:font script="Hang" typeface="Meiryo"/>
        <a:font script="Hans" typeface="Meiryo"/>
        <a:font script="Hant" typeface="Meiryo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ai-stud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uai-studio">
  <a:themeElements>
    <a:clrScheme name="uai-stud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uai-studio">
      <a:majorFont>
        <a:latin typeface="Segoe UI"/>
        <a:ea typeface="Meiryo"/>
        <a:cs typeface="Segoe UI"/>
        <a:font script="Jpan" typeface="Meiryo"/>
        <a:font script="Hang" typeface="Meiryo"/>
        <a:font script="Hans" typeface="Meiryo"/>
        <a:font script="Hant" typeface="Meiryo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eiryo"/>
        <a:cs typeface="Segoe UI"/>
        <a:font script="Jpan" typeface="Meiryo"/>
        <a:font script="Hang" typeface="Meiryo"/>
        <a:font script="Hans" typeface="Meiryo"/>
        <a:font script="Hant" typeface="Meiryo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ai-stud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ja-JP</dc:language>
  <cp:lastModifiedBy/>
  <cp:revision>1</cp:revision>
  <dcterms:created xsi:type="dcterms:W3CDTF">2026-09-30T15:12:45Z</dcterms:created>
  <dcterms:modified xsi:type="dcterms:W3CDTF">2026-09-30T15:12:45Z</dcterms:modified>
  <cp:category/>
  <cp:contentStatus/>
</cp:coreProperties>
</file>